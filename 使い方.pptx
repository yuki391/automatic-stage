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Lst>
  <p:notesMasterIdLst>
    <p:notesMasterId r:id="rId21"/>
  </p:notesMasterIdLst>
  <p:handoutMasterIdLst>
    <p:handoutMasterId r:id="rId22"/>
  </p:handoutMasterIdLst>
  <p:sldIdLst>
    <p:sldId id="750" r:id="rId5"/>
    <p:sldId id="820" r:id="rId6"/>
    <p:sldId id="805" r:id="rId7"/>
    <p:sldId id="817" r:id="rId8"/>
    <p:sldId id="819" r:id="rId9"/>
    <p:sldId id="821" r:id="rId10"/>
    <p:sldId id="806" r:id="rId11"/>
    <p:sldId id="810" r:id="rId12"/>
    <p:sldId id="807" r:id="rId13"/>
    <p:sldId id="808" r:id="rId14"/>
    <p:sldId id="809" r:id="rId15"/>
    <p:sldId id="811" r:id="rId16"/>
    <p:sldId id="813" r:id="rId17"/>
    <p:sldId id="814" r:id="rId18"/>
    <p:sldId id="816" r:id="rId19"/>
    <p:sldId id="818"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67A5B0F0-4BAA-432C-A44C-6A8B96D9056B}">
          <p14:sldIdLst>
            <p14:sldId id="750"/>
            <p14:sldId id="820"/>
            <p14:sldId id="805"/>
            <p14:sldId id="817"/>
            <p14:sldId id="819"/>
            <p14:sldId id="821"/>
            <p14:sldId id="806"/>
            <p14:sldId id="810"/>
            <p14:sldId id="807"/>
            <p14:sldId id="808"/>
            <p14:sldId id="809"/>
            <p14:sldId id="811"/>
            <p14:sldId id="813"/>
            <p14:sldId id="814"/>
            <p14:sldId id="816"/>
            <p14:sldId id="81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ojiri Seita" initials="NS" lastIdx="5" clrIdx="0">
    <p:extLst>
      <p:ext uri="{19B8F6BF-5375-455C-9EA6-DF929625EA0E}">
        <p15:presenceInfo xmlns:p15="http://schemas.microsoft.com/office/powerpoint/2012/main" userId="cbe502607521935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8FAADC"/>
    <a:srgbClr val="0000FF"/>
    <a:srgbClr val="B80000"/>
    <a:srgbClr val="4472C4"/>
    <a:srgbClr val="008000"/>
    <a:srgbClr val="A8D3A8"/>
    <a:srgbClr val="3B6FBB"/>
    <a:srgbClr val="7C7C7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70" autoAdjust="0"/>
    <p:restoredTop sz="89789" autoAdjust="0"/>
  </p:normalViewPr>
  <p:slideViewPr>
    <p:cSldViewPr snapToGrid="0">
      <p:cViewPr>
        <p:scale>
          <a:sx n="75" d="100"/>
          <a:sy n="75" d="100"/>
        </p:scale>
        <p:origin x="2370" y="522"/>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2026/6/27</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07:01:55.863"/>
    </inkml:context>
    <inkml:brush xml:id="br0">
      <inkml:brushProperty name="width" value="0.1" units="cm"/>
      <inkml:brushProperty name="height" value="0.1" units="cm"/>
      <inkml:brushProperty name="color" value="#004F8B"/>
    </inkml:brush>
  </inkml:definitions>
  <inkml:trace contextRef="#ctx0" brushRef="#br0">1 597 24575,'1'-8'0,"0"0"0,1 0 0,0 0 0,1 0 0,0 0 0,0 0 0,1 1 0,-1-1 0,2 1 0,-1 0 0,8-9 0,-4 4 0,47-64 0,3 2 0,3 4 0,94-86 0,-115 120 259,-21 20-801,-1-1 1,19-22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2:19:36.339"/>
    </inkml:context>
    <inkml:brush xml:id="br0">
      <inkml:brushProperty name="width" value="0.1" units="cm"/>
      <inkml:brushProperty name="height" value="0.1" units="cm"/>
      <inkml:brushProperty name="color" value="#004F8B"/>
    </inkml:brush>
  </inkml:definitions>
  <inkml:trace contextRef="#ctx0" brushRef="#br0">1 597 24575,'1'-8'0,"0"0"0,1 0 0,0 0 0,1 0 0,0 0 0,0 0 0,1 1 0,-1-1 0,2 1 0,-1 0 0,8-9 0,-4 4 0,47-64 0,3 2 0,3 4 0,94-86 0,-115 120 259,-21 20-801,-1-1 1,19-22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2026/6/27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a:t>
            </a:fld>
            <a:endParaRPr kumimoji="1" lang="ja-JP" altLang="en-US"/>
          </a:p>
        </p:txBody>
      </p:sp>
    </p:spTree>
    <p:extLst>
      <p:ext uri="{BB962C8B-B14F-4D97-AF65-F5344CB8AC3E}">
        <p14:creationId xmlns:p14="http://schemas.microsoft.com/office/powerpoint/2010/main" val="3350292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18B4D-D5E7-B48C-299F-B4590A73F4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48217DA-5AD1-7502-BDE3-9EC2062A5F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E7A5F7-F24F-AFC8-D3D2-DA7A8661E8F4}"/>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0DB7CA6-CA43-28AA-4A3A-123D8F712666}"/>
              </a:ext>
            </a:extLst>
          </p:cNvPr>
          <p:cNvSpPr>
            <a:spLocks noGrp="1"/>
          </p:cNvSpPr>
          <p:nvPr>
            <p:ph type="sldNum" sz="quarter" idx="5"/>
          </p:nvPr>
        </p:nvSpPr>
        <p:spPr/>
        <p:txBody>
          <a:bodyPr/>
          <a:lstStyle/>
          <a:p>
            <a:fld id="{059A420A-BDF0-4775-9670-07D3BFB5E94B}" type="slidenum">
              <a:rPr kumimoji="1" lang="ja-JP" altLang="en-US" smtClean="0"/>
              <a:t>3</a:t>
            </a:fld>
            <a:endParaRPr kumimoji="1" lang="ja-JP" altLang="en-US"/>
          </a:p>
        </p:txBody>
      </p:sp>
    </p:spTree>
    <p:extLst>
      <p:ext uri="{BB962C8B-B14F-4D97-AF65-F5344CB8AC3E}">
        <p14:creationId xmlns:p14="http://schemas.microsoft.com/office/powerpoint/2010/main" val="364627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4</a:t>
            </a:fld>
            <a:endParaRPr kumimoji="1" lang="ja-JP" altLang="en-US"/>
          </a:p>
        </p:txBody>
      </p:sp>
    </p:spTree>
    <p:extLst>
      <p:ext uri="{BB962C8B-B14F-4D97-AF65-F5344CB8AC3E}">
        <p14:creationId xmlns:p14="http://schemas.microsoft.com/office/powerpoint/2010/main" val="1838840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5</a:t>
            </a:fld>
            <a:endParaRPr kumimoji="1" lang="ja-JP" altLang="en-US"/>
          </a:p>
        </p:txBody>
      </p:sp>
    </p:spTree>
    <p:extLst>
      <p:ext uri="{BB962C8B-B14F-4D97-AF65-F5344CB8AC3E}">
        <p14:creationId xmlns:p14="http://schemas.microsoft.com/office/powerpoint/2010/main" val="3874885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10</a:t>
            </a:fld>
            <a:endParaRPr kumimoji="1" lang="ja-JP" altLang="en-US"/>
          </a:p>
        </p:txBody>
      </p:sp>
    </p:spTree>
    <p:extLst>
      <p:ext uri="{BB962C8B-B14F-4D97-AF65-F5344CB8AC3E}">
        <p14:creationId xmlns:p14="http://schemas.microsoft.com/office/powerpoint/2010/main" val="2852808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4401BF-CADF-4716-A686-8DB5D33BBEEE}"/>
              </a:ext>
            </a:extLst>
          </p:cNvPr>
          <p:cNvSpPr>
            <a:spLocks noGrp="1"/>
          </p:cNvSpPr>
          <p:nvPr>
            <p:ph type="ctrTitle" hasCustomPrompt="1"/>
          </p:nvPr>
        </p:nvSpPr>
        <p:spPr>
          <a:xfrm>
            <a:off x="1043796" y="1122363"/>
            <a:ext cx="10101532" cy="2387600"/>
          </a:xfrm>
        </p:spPr>
        <p:txBody>
          <a:bodyPr anchor="b"/>
          <a:lstStyle>
            <a:lvl1pPr algn="ctr">
              <a:defRPr sz="6000"/>
            </a:lvl1pPr>
          </a:lstStyle>
          <a:p>
            <a:r>
              <a:rPr kumimoji="1" lang="ja-JP" altLang="en-US" dirty="0"/>
              <a:t>発表タイトル</a:t>
            </a:r>
          </a:p>
        </p:txBody>
      </p:sp>
      <p:sp>
        <p:nvSpPr>
          <p:cNvPr id="3" name="字幕 2">
            <a:extLst>
              <a:ext uri="{FF2B5EF4-FFF2-40B4-BE49-F238E27FC236}">
                <a16:creationId xmlns:a16="http://schemas.microsoft.com/office/drawing/2014/main" id="{52554523-78BF-4402-866B-91A1C38DF8CC}"/>
              </a:ext>
            </a:extLst>
          </p:cNvPr>
          <p:cNvSpPr>
            <a:spLocks noGrp="1"/>
          </p:cNvSpPr>
          <p:nvPr>
            <p:ph type="subTitle" idx="1" hasCustomPrompt="1"/>
          </p:nvPr>
        </p:nvSpPr>
        <p:spPr>
          <a:xfrm>
            <a:off x="1043795" y="3602038"/>
            <a:ext cx="1010153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著者</a:t>
            </a:r>
          </a:p>
        </p:txBody>
      </p:sp>
      <p:sp>
        <p:nvSpPr>
          <p:cNvPr id="5" name="テキスト プレースホルダー 4">
            <a:extLst>
              <a:ext uri="{FF2B5EF4-FFF2-40B4-BE49-F238E27FC236}">
                <a16:creationId xmlns:a16="http://schemas.microsoft.com/office/drawing/2014/main" id="{12791D2E-8D16-4228-8FF7-35ADE141897A}"/>
              </a:ext>
            </a:extLst>
          </p:cNvPr>
          <p:cNvSpPr>
            <a:spLocks noGrp="1"/>
          </p:cNvSpPr>
          <p:nvPr>
            <p:ph type="body" sz="quarter" idx="10" hasCustomPrompt="1"/>
          </p:nvPr>
        </p:nvSpPr>
        <p:spPr>
          <a:xfrm>
            <a:off x="179388" y="141288"/>
            <a:ext cx="11650662" cy="404812"/>
          </a:xfrm>
        </p:spPr>
        <p:txBody>
          <a:bodyPr anchor="ctr"/>
          <a:lstStyle>
            <a:lvl1pPr marL="0" indent="0" algn="r">
              <a:lnSpc>
                <a:spcPct val="100000"/>
              </a:lnSpc>
              <a:spcBef>
                <a:spcPts val="0"/>
              </a:spcBef>
              <a:buNone/>
              <a:defRPr/>
            </a:lvl1pPr>
          </a:lstStyle>
          <a:p>
            <a:pPr lvl="0"/>
            <a:r>
              <a:rPr kumimoji="1" lang="ja-JP" altLang="en-US" dirty="0"/>
              <a:t>発表学会，開催日</a:t>
            </a:r>
          </a:p>
        </p:txBody>
      </p:sp>
    </p:spTree>
    <p:extLst>
      <p:ext uri="{BB962C8B-B14F-4D97-AF65-F5344CB8AC3E}">
        <p14:creationId xmlns:p14="http://schemas.microsoft.com/office/powerpoint/2010/main" val="196871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パラグラフスライド2">
    <p:spTree>
      <p:nvGrpSpPr>
        <p:cNvPr id="1" name=""/>
        <p:cNvGrpSpPr/>
        <p:nvPr/>
      </p:nvGrpSpPr>
      <p:grpSpPr>
        <a:xfrm>
          <a:off x="0" y="0"/>
          <a:ext cx="0" cy="0"/>
          <a:chOff x="0" y="0"/>
          <a:chExt cx="0" cy="0"/>
        </a:xfrm>
      </p:grpSpPr>
      <p:sp>
        <p:nvSpPr>
          <p:cNvPr id="23" name="テキスト ボックス 22"/>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97A7F440-F708-44DE-8F49-AFE08B0A12A3}"/>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
        <p:nvSpPr>
          <p:cNvPr id="9" name="テキスト プレースホルダー 8">
            <a:extLst>
              <a:ext uri="{FF2B5EF4-FFF2-40B4-BE49-F238E27FC236}">
                <a16:creationId xmlns:a16="http://schemas.microsoft.com/office/drawing/2014/main" id="{4A6BF40A-D5B9-4B3B-96AA-19A78D26F1E4}"/>
              </a:ext>
            </a:extLst>
          </p:cNvPr>
          <p:cNvSpPr>
            <a:spLocks noGrp="1"/>
          </p:cNvSpPr>
          <p:nvPr>
            <p:ph type="body" sz="quarter" idx="13" hasCustomPrompt="1"/>
          </p:nvPr>
        </p:nvSpPr>
        <p:spPr>
          <a:xfrm>
            <a:off x="546100" y="5662196"/>
            <a:ext cx="11099800" cy="879892"/>
          </a:xfrm>
        </p:spPr>
        <p:txBody>
          <a:bodyPr anchor="ctr"/>
          <a:lstStyle>
            <a:lvl1pPr marL="0" indent="0">
              <a:spcBef>
                <a:spcPts val="0"/>
              </a:spcBef>
              <a:spcAft>
                <a:spcPts val="0"/>
              </a:spcAft>
              <a:buNone/>
              <a:defRPr sz="3600" b="1"/>
            </a:lvl1pPr>
          </a:lstStyle>
          <a:p>
            <a:pPr lvl="0"/>
            <a:r>
              <a:rPr kumimoji="1" lang="ja-JP" altLang="en-US" dirty="0"/>
              <a:t>話題について伝えるべきメッセージ（問いの答え）</a:t>
            </a:r>
            <a:endParaRPr kumimoji="1" lang="en-US" altLang="ja-JP" dirty="0"/>
          </a:p>
        </p:txBody>
      </p:sp>
      <p:sp>
        <p:nvSpPr>
          <p:cNvPr id="13" name="コンテンツ プレースホルダー 12">
            <a:extLst>
              <a:ext uri="{FF2B5EF4-FFF2-40B4-BE49-F238E27FC236}">
                <a16:creationId xmlns:a16="http://schemas.microsoft.com/office/drawing/2014/main" id="{B209845F-C022-4501-A9C9-DE49B4058BD2}"/>
              </a:ext>
            </a:extLst>
          </p:cNvPr>
          <p:cNvSpPr>
            <a:spLocks noGrp="1"/>
          </p:cNvSpPr>
          <p:nvPr>
            <p:ph sz="quarter" idx="14" hasCustomPrompt="1"/>
          </p:nvPr>
        </p:nvSpPr>
        <p:spPr>
          <a:xfrm>
            <a:off x="546100" y="974785"/>
            <a:ext cx="11099800" cy="453812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46377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カード">
    <p:spTree>
      <p:nvGrpSpPr>
        <p:cNvPr id="1" name=""/>
        <p:cNvGrpSpPr/>
        <p:nvPr/>
      </p:nvGrpSpPr>
      <p:grpSpPr>
        <a:xfrm>
          <a:off x="0" y="0"/>
          <a:ext cx="0" cy="0"/>
          <a:chOff x="0" y="0"/>
          <a:chExt cx="0" cy="0"/>
        </a:xfrm>
      </p:grpSpPr>
      <p:sp>
        <p:nvSpPr>
          <p:cNvPr id="23" name="テキスト ボックス 22"/>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97A7F440-F708-44DE-8F49-AFE08B0A12A3}"/>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
        <p:nvSpPr>
          <p:cNvPr id="9" name="テキスト プレースホルダー 8">
            <a:extLst>
              <a:ext uri="{FF2B5EF4-FFF2-40B4-BE49-F238E27FC236}">
                <a16:creationId xmlns:a16="http://schemas.microsoft.com/office/drawing/2014/main" id="{4A6BF40A-D5B9-4B3B-96AA-19A78D26F1E4}"/>
              </a:ext>
            </a:extLst>
          </p:cNvPr>
          <p:cNvSpPr>
            <a:spLocks noGrp="1"/>
          </p:cNvSpPr>
          <p:nvPr>
            <p:ph type="body" sz="quarter" idx="13" hasCustomPrompt="1"/>
          </p:nvPr>
        </p:nvSpPr>
        <p:spPr>
          <a:xfrm>
            <a:off x="546100" y="974787"/>
            <a:ext cx="11099800" cy="879892"/>
          </a:xfrm>
        </p:spPr>
        <p:txBody>
          <a:bodyPr anchor="ctr"/>
          <a:lstStyle>
            <a:lvl1pPr marL="0" indent="0">
              <a:spcBef>
                <a:spcPts val="0"/>
              </a:spcBef>
              <a:spcAft>
                <a:spcPts val="0"/>
              </a:spcAft>
              <a:buNone/>
              <a:defRPr sz="3600" b="1"/>
            </a:lvl1pPr>
          </a:lstStyle>
          <a:p>
            <a:pPr lvl="0"/>
            <a:r>
              <a:rPr kumimoji="1" lang="ja-JP" altLang="en-US" dirty="0"/>
              <a:t>話題について伝えるべきメッセージ（問いの答え）</a:t>
            </a:r>
            <a:endParaRPr kumimoji="1" lang="en-US" altLang="ja-JP" dirty="0"/>
          </a:p>
        </p:txBody>
      </p:sp>
      <p:sp>
        <p:nvSpPr>
          <p:cNvPr id="13" name="コンテンツ プレースホルダー 12">
            <a:extLst>
              <a:ext uri="{FF2B5EF4-FFF2-40B4-BE49-F238E27FC236}">
                <a16:creationId xmlns:a16="http://schemas.microsoft.com/office/drawing/2014/main" id="{B209845F-C022-4501-A9C9-DE49B4058BD2}"/>
              </a:ext>
            </a:extLst>
          </p:cNvPr>
          <p:cNvSpPr>
            <a:spLocks noGrp="1"/>
          </p:cNvSpPr>
          <p:nvPr>
            <p:ph sz="quarter" idx="14" hasCustomPrompt="1"/>
          </p:nvPr>
        </p:nvSpPr>
        <p:spPr>
          <a:xfrm>
            <a:off x="546100" y="2003965"/>
            <a:ext cx="5259477" cy="453812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コンテンツ プレースホルダー 12">
            <a:extLst>
              <a:ext uri="{FF2B5EF4-FFF2-40B4-BE49-F238E27FC236}">
                <a16:creationId xmlns:a16="http://schemas.microsoft.com/office/drawing/2014/main" id="{0473B901-D5EB-4B8B-A617-D00942938916}"/>
              </a:ext>
            </a:extLst>
          </p:cNvPr>
          <p:cNvSpPr>
            <a:spLocks noGrp="1"/>
          </p:cNvSpPr>
          <p:nvPr>
            <p:ph sz="quarter" idx="15" hasCustomPrompt="1"/>
          </p:nvPr>
        </p:nvSpPr>
        <p:spPr>
          <a:xfrm>
            <a:off x="6386425" y="2003964"/>
            <a:ext cx="5265229" cy="453812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4277137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3カード">
    <p:spTree>
      <p:nvGrpSpPr>
        <p:cNvPr id="1" name=""/>
        <p:cNvGrpSpPr/>
        <p:nvPr/>
      </p:nvGrpSpPr>
      <p:grpSpPr>
        <a:xfrm>
          <a:off x="0" y="0"/>
          <a:ext cx="0" cy="0"/>
          <a:chOff x="0" y="0"/>
          <a:chExt cx="0" cy="0"/>
        </a:xfrm>
      </p:grpSpPr>
      <p:sp>
        <p:nvSpPr>
          <p:cNvPr id="23" name="テキスト ボックス 22"/>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97A7F440-F708-44DE-8F49-AFE08B0A12A3}"/>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
        <p:nvSpPr>
          <p:cNvPr id="9" name="テキスト プレースホルダー 8">
            <a:extLst>
              <a:ext uri="{FF2B5EF4-FFF2-40B4-BE49-F238E27FC236}">
                <a16:creationId xmlns:a16="http://schemas.microsoft.com/office/drawing/2014/main" id="{4A6BF40A-D5B9-4B3B-96AA-19A78D26F1E4}"/>
              </a:ext>
            </a:extLst>
          </p:cNvPr>
          <p:cNvSpPr>
            <a:spLocks noGrp="1"/>
          </p:cNvSpPr>
          <p:nvPr>
            <p:ph type="body" sz="quarter" idx="13" hasCustomPrompt="1"/>
          </p:nvPr>
        </p:nvSpPr>
        <p:spPr>
          <a:xfrm>
            <a:off x="546100" y="974787"/>
            <a:ext cx="11099800" cy="879892"/>
          </a:xfrm>
        </p:spPr>
        <p:txBody>
          <a:bodyPr anchor="ctr"/>
          <a:lstStyle>
            <a:lvl1pPr marL="0" indent="0">
              <a:spcBef>
                <a:spcPts val="0"/>
              </a:spcBef>
              <a:spcAft>
                <a:spcPts val="0"/>
              </a:spcAft>
              <a:buNone/>
              <a:defRPr sz="3600" b="1"/>
            </a:lvl1pPr>
          </a:lstStyle>
          <a:p>
            <a:pPr lvl="0"/>
            <a:r>
              <a:rPr kumimoji="1" lang="ja-JP" altLang="en-US" dirty="0"/>
              <a:t>話題について伝えるべきメッセージ（問いの答え）</a:t>
            </a:r>
            <a:endParaRPr kumimoji="1" lang="en-US" altLang="ja-JP" dirty="0"/>
          </a:p>
        </p:txBody>
      </p:sp>
      <p:sp>
        <p:nvSpPr>
          <p:cNvPr id="13" name="コンテンツ プレースホルダー 12">
            <a:extLst>
              <a:ext uri="{FF2B5EF4-FFF2-40B4-BE49-F238E27FC236}">
                <a16:creationId xmlns:a16="http://schemas.microsoft.com/office/drawing/2014/main" id="{B209845F-C022-4501-A9C9-DE49B4058BD2}"/>
              </a:ext>
            </a:extLst>
          </p:cNvPr>
          <p:cNvSpPr>
            <a:spLocks noGrp="1"/>
          </p:cNvSpPr>
          <p:nvPr>
            <p:ph sz="quarter" idx="14" hasCustomPrompt="1"/>
          </p:nvPr>
        </p:nvSpPr>
        <p:spPr>
          <a:xfrm>
            <a:off x="546101" y="2003965"/>
            <a:ext cx="3600000" cy="453812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コンテンツ プレースホルダー 12">
            <a:extLst>
              <a:ext uri="{FF2B5EF4-FFF2-40B4-BE49-F238E27FC236}">
                <a16:creationId xmlns:a16="http://schemas.microsoft.com/office/drawing/2014/main" id="{0473B901-D5EB-4B8B-A617-D00942938916}"/>
              </a:ext>
            </a:extLst>
          </p:cNvPr>
          <p:cNvSpPr>
            <a:spLocks noGrp="1"/>
          </p:cNvSpPr>
          <p:nvPr>
            <p:ph sz="quarter" idx="15" hasCustomPrompt="1"/>
          </p:nvPr>
        </p:nvSpPr>
        <p:spPr>
          <a:xfrm>
            <a:off x="8045899" y="2003962"/>
            <a:ext cx="3600000" cy="453812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8" name="コンテンツ プレースホルダー 12">
            <a:extLst>
              <a:ext uri="{FF2B5EF4-FFF2-40B4-BE49-F238E27FC236}">
                <a16:creationId xmlns:a16="http://schemas.microsoft.com/office/drawing/2014/main" id="{907D4DE1-AF52-4D32-8179-384E6F384FA7}"/>
              </a:ext>
            </a:extLst>
          </p:cNvPr>
          <p:cNvSpPr>
            <a:spLocks noGrp="1"/>
          </p:cNvSpPr>
          <p:nvPr>
            <p:ph sz="quarter" idx="16" hasCustomPrompt="1"/>
          </p:nvPr>
        </p:nvSpPr>
        <p:spPr>
          <a:xfrm>
            <a:off x="4296000" y="2003963"/>
            <a:ext cx="3600000" cy="453812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4275374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由記述">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F0A7659-0DF3-486C-A60C-33F625F5DD0F}"/>
              </a:ext>
            </a:extLst>
          </p:cNvPr>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3" name="直線コネクタ 2">
            <a:extLst>
              <a:ext uri="{FF2B5EF4-FFF2-40B4-BE49-F238E27FC236}">
                <a16:creationId xmlns:a16="http://schemas.microsoft.com/office/drawing/2014/main" id="{3BAA76F5-610C-4B06-B934-B8EC3B3C0315}"/>
              </a:ext>
            </a:extLst>
          </p:cNvPr>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E65536A5-FCB2-4F65-9A67-4CFD299D22E2}"/>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Tree>
    <p:extLst>
      <p:ext uri="{BB962C8B-B14F-4D97-AF65-F5344CB8AC3E}">
        <p14:creationId xmlns:p14="http://schemas.microsoft.com/office/powerpoint/2010/main" val="296463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情報整理">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F0A7659-0DF3-486C-A60C-33F625F5DD0F}"/>
              </a:ext>
            </a:extLst>
          </p:cNvPr>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3" name="直線コネクタ 2">
            <a:extLst>
              <a:ext uri="{FF2B5EF4-FFF2-40B4-BE49-F238E27FC236}">
                <a16:creationId xmlns:a16="http://schemas.microsoft.com/office/drawing/2014/main" id="{3BAA76F5-610C-4B06-B934-B8EC3B3C0315}"/>
              </a:ext>
            </a:extLst>
          </p:cNvPr>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E65536A5-FCB2-4F65-9A67-4CFD299D22E2}"/>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
        <p:nvSpPr>
          <p:cNvPr id="8" name="テキスト プレースホルダー 7">
            <a:extLst>
              <a:ext uri="{FF2B5EF4-FFF2-40B4-BE49-F238E27FC236}">
                <a16:creationId xmlns:a16="http://schemas.microsoft.com/office/drawing/2014/main" id="{0C8B0133-0FCA-A8AB-C77A-D64E4AFCFC2E}"/>
              </a:ext>
            </a:extLst>
          </p:cNvPr>
          <p:cNvSpPr>
            <a:spLocks noGrp="1"/>
          </p:cNvSpPr>
          <p:nvPr>
            <p:ph type="body" sz="quarter" idx="13" hasCustomPrompt="1"/>
          </p:nvPr>
        </p:nvSpPr>
        <p:spPr>
          <a:xfrm>
            <a:off x="346613" y="1066800"/>
            <a:ext cx="11512012" cy="1255486"/>
          </a:xfrm>
          <a:ln w="12700">
            <a:solidFill>
              <a:srgbClr val="FF0000"/>
            </a:solidFill>
          </a:ln>
        </p:spPr>
        <p:txBody>
          <a:bodyPr/>
          <a:lstStyle/>
          <a:p>
            <a:pPr lvl="0"/>
            <a:r>
              <a:rPr kumimoji="1" lang="ja-JP" altLang="en-US" dirty="0"/>
              <a:t>前提情報</a:t>
            </a:r>
          </a:p>
          <a:p>
            <a:pPr lvl="1"/>
            <a:r>
              <a:rPr kumimoji="1" lang="ja-JP" altLang="en-US" dirty="0"/>
              <a:t>情報その１</a:t>
            </a:r>
            <a:endParaRPr kumimoji="1" lang="en-US" altLang="ja-JP" dirty="0"/>
          </a:p>
          <a:p>
            <a:pPr lvl="1"/>
            <a:r>
              <a:rPr kumimoji="1" lang="ja-JP" altLang="en-US" dirty="0"/>
              <a:t>情報その２</a:t>
            </a:r>
          </a:p>
        </p:txBody>
      </p:sp>
      <p:sp>
        <p:nvSpPr>
          <p:cNvPr id="9" name="テキスト プレースホルダー 7">
            <a:extLst>
              <a:ext uri="{FF2B5EF4-FFF2-40B4-BE49-F238E27FC236}">
                <a16:creationId xmlns:a16="http://schemas.microsoft.com/office/drawing/2014/main" id="{FFEAAB85-CB2C-2BD1-9E92-EF80AC0C36C3}"/>
              </a:ext>
            </a:extLst>
          </p:cNvPr>
          <p:cNvSpPr>
            <a:spLocks noGrp="1"/>
          </p:cNvSpPr>
          <p:nvPr>
            <p:ph type="body" sz="quarter" idx="14" hasCustomPrompt="1"/>
          </p:nvPr>
        </p:nvSpPr>
        <p:spPr>
          <a:xfrm>
            <a:off x="346613" y="2438400"/>
            <a:ext cx="11512012" cy="1255486"/>
          </a:xfrm>
          <a:ln w="12700">
            <a:solidFill>
              <a:srgbClr val="FF0000"/>
            </a:solidFill>
          </a:ln>
        </p:spPr>
        <p:txBody>
          <a:bodyPr/>
          <a:lstStyle/>
          <a:p>
            <a:pPr lvl="0"/>
            <a:r>
              <a:rPr kumimoji="1" lang="ja-JP" altLang="en-US" dirty="0"/>
              <a:t>論点</a:t>
            </a:r>
          </a:p>
          <a:p>
            <a:pPr lvl="1"/>
            <a:r>
              <a:rPr kumimoji="1" lang="ja-JP" altLang="en-US" dirty="0"/>
              <a:t>情報その１</a:t>
            </a:r>
            <a:endParaRPr kumimoji="1" lang="en-US" altLang="ja-JP" dirty="0"/>
          </a:p>
          <a:p>
            <a:pPr lvl="1"/>
            <a:r>
              <a:rPr kumimoji="1" lang="ja-JP" altLang="en-US" dirty="0"/>
              <a:t>情報その２</a:t>
            </a:r>
          </a:p>
        </p:txBody>
      </p:sp>
      <p:sp>
        <p:nvSpPr>
          <p:cNvPr id="10" name="テキスト プレースホルダー 7">
            <a:extLst>
              <a:ext uri="{FF2B5EF4-FFF2-40B4-BE49-F238E27FC236}">
                <a16:creationId xmlns:a16="http://schemas.microsoft.com/office/drawing/2014/main" id="{01CFEC69-EC5A-CDDB-0477-B41B888E8668}"/>
              </a:ext>
            </a:extLst>
          </p:cNvPr>
          <p:cNvSpPr>
            <a:spLocks noGrp="1"/>
          </p:cNvSpPr>
          <p:nvPr>
            <p:ph type="body" sz="quarter" idx="15" hasCustomPrompt="1"/>
          </p:nvPr>
        </p:nvSpPr>
        <p:spPr>
          <a:xfrm>
            <a:off x="346613" y="3824514"/>
            <a:ext cx="11512012" cy="1255486"/>
          </a:xfrm>
          <a:ln w="12700">
            <a:solidFill>
              <a:srgbClr val="FF0000"/>
            </a:solidFill>
          </a:ln>
        </p:spPr>
        <p:txBody>
          <a:bodyPr/>
          <a:lstStyle/>
          <a:p>
            <a:pPr lvl="0"/>
            <a:r>
              <a:rPr kumimoji="1" lang="ja-JP" altLang="en-US" dirty="0"/>
              <a:t>実験データと読み取れること</a:t>
            </a:r>
          </a:p>
          <a:p>
            <a:pPr lvl="1"/>
            <a:r>
              <a:rPr kumimoji="1" lang="ja-JP" altLang="en-US" dirty="0"/>
              <a:t>情報その１</a:t>
            </a:r>
            <a:endParaRPr kumimoji="1" lang="en-US" altLang="ja-JP" dirty="0"/>
          </a:p>
          <a:p>
            <a:pPr lvl="1"/>
            <a:r>
              <a:rPr kumimoji="1" lang="ja-JP" altLang="en-US" dirty="0"/>
              <a:t>情報その２</a:t>
            </a:r>
          </a:p>
        </p:txBody>
      </p:sp>
      <p:sp>
        <p:nvSpPr>
          <p:cNvPr id="11" name="テキスト プレースホルダー 7">
            <a:extLst>
              <a:ext uri="{FF2B5EF4-FFF2-40B4-BE49-F238E27FC236}">
                <a16:creationId xmlns:a16="http://schemas.microsoft.com/office/drawing/2014/main" id="{B70EE6DB-31B8-495F-7814-A2AE794EB3B1}"/>
              </a:ext>
            </a:extLst>
          </p:cNvPr>
          <p:cNvSpPr>
            <a:spLocks noGrp="1"/>
          </p:cNvSpPr>
          <p:nvPr>
            <p:ph type="body" sz="quarter" idx="16" hasCustomPrompt="1"/>
          </p:nvPr>
        </p:nvSpPr>
        <p:spPr>
          <a:xfrm>
            <a:off x="339994" y="5261427"/>
            <a:ext cx="11512012" cy="1255486"/>
          </a:xfrm>
          <a:ln w="12700">
            <a:solidFill>
              <a:srgbClr val="FF0000"/>
            </a:solidFill>
          </a:ln>
        </p:spPr>
        <p:txBody>
          <a:bodyPr/>
          <a:lstStyle/>
          <a:p>
            <a:pPr lvl="0"/>
            <a:r>
              <a:rPr kumimoji="1" lang="ja-JP" altLang="en-US" dirty="0"/>
              <a:t>論点に関してデータからいえること</a:t>
            </a:r>
          </a:p>
          <a:p>
            <a:pPr lvl="1"/>
            <a:r>
              <a:rPr kumimoji="1" lang="ja-JP" altLang="en-US" dirty="0"/>
              <a:t>情報その１</a:t>
            </a:r>
            <a:endParaRPr kumimoji="1" lang="en-US" altLang="ja-JP" dirty="0"/>
          </a:p>
          <a:p>
            <a:pPr lvl="1"/>
            <a:r>
              <a:rPr kumimoji="1" lang="ja-JP" altLang="en-US" dirty="0"/>
              <a:t>情報その２</a:t>
            </a:r>
          </a:p>
        </p:txBody>
      </p:sp>
    </p:spTree>
    <p:extLst>
      <p:ext uri="{BB962C8B-B14F-4D97-AF65-F5344CB8AC3E}">
        <p14:creationId xmlns:p14="http://schemas.microsoft.com/office/powerpoint/2010/main" val="366602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情報整理2">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F0A7659-0DF3-486C-A60C-33F625F5DD0F}"/>
              </a:ext>
            </a:extLst>
          </p:cNvPr>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3" name="直線コネクタ 2">
            <a:extLst>
              <a:ext uri="{FF2B5EF4-FFF2-40B4-BE49-F238E27FC236}">
                <a16:creationId xmlns:a16="http://schemas.microsoft.com/office/drawing/2014/main" id="{3BAA76F5-610C-4B06-B934-B8EC3B3C0315}"/>
              </a:ext>
            </a:extLst>
          </p:cNvPr>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E65536A5-FCB2-4F65-9A67-4CFD299D22E2}"/>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
        <p:nvSpPr>
          <p:cNvPr id="8" name="テキスト プレースホルダー 7">
            <a:extLst>
              <a:ext uri="{FF2B5EF4-FFF2-40B4-BE49-F238E27FC236}">
                <a16:creationId xmlns:a16="http://schemas.microsoft.com/office/drawing/2014/main" id="{0C8B0133-0FCA-A8AB-C77A-D64E4AFCFC2E}"/>
              </a:ext>
            </a:extLst>
          </p:cNvPr>
          <p:cNvSpPr>
            <a:spLocks noGrp="1"/>
          </p:cNvSpPr>
          <p:nvPr>
            <p:ph type="body" sz="quarter" idx="13" hasCustomPrompt="1"/>
          </p:nvPr>
        </p:nvSpPr>
        <p:spPr>
          <a:xfrm>
            <a:off x="346613" y="1066799"/>
            <a:ext cx="11512012" cy="2611265"/>
          </a:xfrm>
          <a:ln w="12700">
            <a:solidFill>
              <a:srgbClr val="FF0000"/>
            </a:solidFill>
          </a:ln>
        </p:spPr>
        <p:txBody>
          <a:bodyPr/>
          <a:lstStyle/>
          <a:p>
            <a:pPr lvl="0"/>
            <a:r>
              <a:rPr kumimoji="1" lang="ja-JP" altLang="en-US" dirty="0"/>
              <a:t>見出し</a:t>
            </a:r>
          </a:p>
          <a:p>
            <a:pPr lvl="1"/>
            <a:r>
              <a:rPr kumimoji="1" lang="ja-JP" altLang="en-US" dirty="0"/>
              <a:t>情報その１</a:t>
            </a:r>
            <a:endParaRPr kumimoji="1" lang="en-US" altLang="ja-JP" dirty="0"/>
          </a:p>
          <a:p>
            <a:pPr lvl="1"/>
            <a:r>
              <a:rPr kumimoji="1" lang="ja-JP" altLang="en-US" dirty="0"/>
              <a:t>情報その２</a:t>
            </a:r>
          </a:p>
        </p:txBody>
      </p:sp>
      <p:sp>
        <p:nvSpPr>
          <p:cNvPr id="10" name="テキスト プレースホルダー 7">
            <a:extLst>
              <a:ext uri="{FF2B5EF4-FFF2-40B4-BE49-F238E27FC236}">
                <a16:creationId xmlns:a16="http://schemas.microsoft.com/office/drawing/2014/main" id="{01CFEC69-EC5A-CDDB-0477-B41B888E8668}"/>
              </a:ext>
            </a:extLst>
          </p:cNvPr>
          <p:cNvSpPr>
            <a:spLocks noGrp="1"/>
          </p:cNvSpPr>
          <p:nvPr>
            <p:ph type="body" sz="quarter" idx="15" hasCustomPrompt="1"/>
          </p:nvPr>
        </p:nvSpPr>
        <p:spPr>
          <a:xfrm>
            <a:off x="346613" y="3824514"/>
            <a:ext cx="11512012" cy="2717838"/>
          </a:xfrm>
          <a:ln w="12700">
            <a:solidFill>
              <a:srgbClr val="FF0000"/>
            </a:solidFill>
          </a:ln>
        </p:spPr>
        <p:txBody>
          <a:bodyPr/>
          <a:lstStyle/>
          <a:p>
            <a:pPr lvl="0"/>
            <a:r>
              <a:rPr kumimoji="1" lang="ja-JP" altLang="en-US" dirty="0"/>
              <a:t>見出し</a:t>
            </a:r>
          </a:p>
          <a:p>
            <a:pPr lvl="1"/>
            <a:r>
              <a:rPr kumimoji="1" lang="ja-JP" altLang="en-US" dirty="0"/>
              <a:t>情報その１</a:t>
            </a:r>
            <a:endParaRPr kumimoji="1" lang="en-US" altLang="ja-JP" dirty="0"/>
          </a:p>
          <a:p>
            <a:pPr lvl="1"/>
            <a:r>
              <a:rPr kumimoji="1" lang="ja-JP" altLang="en-US" dirty="0"/>
              <a:t>情報その２</a:t>
            </a:r>
          </a:p>
        </p:txBody>
      </p:sp>
    </p:spTree>
    <p:extLst>
      <p:ext uri="{BB962C8B-B14F-4D97-AF65-F5344CB8AC3E}">
        <p14:creationId xmlns:p14="http://schemas.microsoft.com/office/powerpoint/2010/main" val="1900967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由記述2">
    <p:spTree>
      <p:nvGrpSpPr>
        <p:cNvPr id="1" name=""/>
        <p:cNvGrpSpPr/>
        <p:nvPr/>
      </p:nvGrpSpPr>
      <p:grpSpPr>
        <a:xfrm>
          <a:off x="0" y="0"/>
          <a:ext cx="0" cy="0"/>
          <a:chOff x="0" y="0"/>
          <a:chExt cx="0" cy="0"/>
        </a:xfrm>
      </p:grpSpPr>
      <p:sp>
        <p:nvSpPr>
          <p:cNvPr id="23" name="テキスト ボックス 22"/>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コンテンツ プレースホルダー 4">
            <a:extLst>
              <a:ext uri="{FF2B5EF4-FFF2-40B4-BE49-F238E27FC236}">
                <a16:creationId xmlns:a16="http://schemas.microsoft.com/office/drawing/2014/main" id="{97A7F440-F708-44DE-8F49-AFE08B0A12A3}"/>
              </a:ext>
            </a:extLst>
          </p:cNvPr>
          <p:cNvSpPr>
            <a:spLocks noGrp="1"/>
          </p:cNvSpPr>
          <p:nvPr>
            <p:ph sz="quarter" idx="12" hasCustomPrompt="1"/>
          </p:nvPr>
        </p:nvSpPr>
        <p:spPr>
          <a:xfrm>
            <a:off x="346613" y="315648"/>
            <a:ext cx="11146887" cy="509851"/>
          </a:xfrm>
        </p:spPr>
        <p:txBody>
          <a:bodyPr anchor="ctr"/>
          <a:lstStyle>
            <a:lvl1pPr marL="0" indent="-230400">
              <a:spcBef>
                <a:spcPts val="0"/>
              </a:spcBef>
              <a:buFont typeface="Arial" panose="020B0604020202020204" pitchFamily="34" charset="0"/>
              <a:buChar char="•"/>
              <a:defRPr/>
            </a:lvl1pPr>
          </a:lstStyle>
          <a:p>
            <a:pPr lvl="0"/>
            <a:r>
              <a:rPr kumimoji="1" lang="ja-JP" altLang="en-US" dirty="0"/>
              <a:t>スライドの話題＝問い＝論点</a:t>
            </a:r>
          </a:p>
        </p:txBody>
      </p:sp>
      <p:sp>
        <p:nvSpPr>
          <p:cNvPr id="13" name="コンテンツ プレースホルダー 12">
            <a:extLst>
              <a:ext uri="{FF2B5EF4-FFF2-40B4-BE49-F238E27FC236}">
                <a16:creationId xmlns:a16="http://schemas.microsoft.com/office/drawing/2014/main" id="{B209845F-C022-4501-A9C9-DE49B4058BD2}"/>
              </a:ext>
            </a:extLst>
          </p:cNvPr>
          <p:cNvSpPr>
            <a:spLocks noGrp="1"/>
          </p:cNvSpPr>
          <p:nvPr>
            <p:ph sz="quarter" idx="14" hasCustomPrompt="1"/>
          </p:nvPr>
        </p:nvSpPr>
        <p:spPr>
          <a:xfrm>
            <a:off x="546100" y="974785"/>
            <a:ext cx="11099800" cy="5621953"/>
          </a:xfrm>
        </p:spPr>
        <p:txBody>
          <a:bodyPr/>
          <a:lstStyle/>
          <a:p>
            <a:pPr lvl="0"/>
            <a:r>
              <a:rPr kumimoji="1" lang="ja-JP" altLang="en-US" dirty="0"/>
              <a:t>メッセージの補足説明（根拠／解説／具体例）</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361978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580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882A8B2-D594-46CA-8C7A-2C1EA57063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6334DB0A-5448-4A19-B603-285EE0436A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282935FD-6416-469A-80FA-4C86EECD51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A91C9D-0C7B-47C0-8230-C4AB15A97D8E}" type="datetime1">
              <a:rPr kumimoji="1" lang="ja-JP" altLang="en-US" smtClean="0"/>
              <a:t>2026/6/27</a:t>
            </a:fld>
            <a:endParaRPr kumimoji="1" lang="ja-JP" altLang="en-US"/>
          </a:p>
        </p:txBody>
      </p:sp>
      <p:sp>
        <p:nvSpPr>
          <p:cNvPr id="5" name="フッター プレースホルダー 4">
            <a:extLst>
              <a:ext uri="{FF2B5EF4-FFF2-40B4-BE49-F238E27FC236}">
                <a16:creationId xmlns:a16="http://schemas.microsoft.com/office/drawing/2014/main" id="{7C559A95-ED00-452A-B530-8197080FA0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6896AA5-1F26-48B1-B7F6-90C66D99D8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113774692"/>
      </p:ext>
    </p:extLst>
  </p:cSld>
  <p:clrMap bg1="lt1" tx1="dk1" bg2="lt2" tx2="dk2" accent1="accent1" accent2="accent2" accent3="accent3" accent4="accent4" accent5="accent5" accent6="accent6" hlink="hlink" folHlink="folHlink"/>
  <p:sldLayoutIdLst>
    <p:sldLayoutId id="2147483667" r:id="rId1"/>
    <p:sldLayoutId id="2147483682" r:id="rId2"/>
    <p:sldLayoutId id="2147483681" r:id="rId3"/>
    <p:sldLayoutId id="2147483683" r:id="rId4"/>
    <p:sldLayoutId id="2147483651" r:id="rId5"/>
    <p:sldLayoutId id="2147483685" r:id="rId6"/>
    <p:sldLayoutId id="2147483686" r:id="rId7"/>
    <p:sldLayoutId id="2147483684" r:id="rId8"/>
    <p:sldLayoutId id="2147483680" r:id="rId9"/>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CE9738-1403-42B8-A9CC-8E548771120A}"/>
              </a:ext>
            </a:extLst>
          </p:cNvPr>
          <p:cNvSpPr>
            <a:spLocks noGrp="1"/>
          </p:cNvSpPr>
          <p:nvPr>
            <p:ph type="ctrTitle"/>
          </p:nvPr>
        </p:nvSpPr>
        <p:spPr>
          <a:xfrm>
            <a:off x="1043797" y="1577974"/>
            <a:ext cx="10101532" cy="2387600"/>
          </a:xfrm>
        </p:spPr>
        <p:txBody>
          <a:bodyPr>
            <a:normAutofit/>
          </a:bodyPr>
          <a:lstStyle/>
          <a:p>
            <a:r>
              <a:rPr kumimoji="1" lang="ja-JP" altLang="en-US" sz="5400" dirty="0"/>
              <a:t>自動ステージの使い方</a:t>
            </a:r>
            <a:br>
              <a:rPr lang="en-US" altLang="ja-JP" sz="5400" dirty="0"/>
            </a:br>
            <a:r>
              <a:rPr lang="en-US" altLang="ja-JP" sz="5400" dirty="0"/>
              <a:t>(How to use an automatic stage)</a:t>
            </a:r>
            <a:endParaRPr kumimoji="1" lang="ja-JP" altLang="en-US" sz="5400" dirty="0"/>
          </a:p>
        </p:txBody>
      </p:sp>
      <p:sp>
        <p:nvSpPr>
          <p:cNvPr id="4" name="テキスト プレースホルダー 3">
            <a:extLst>
              <a:ext uri="{FF2B5EF4-FFF2-40B4-BE49-F238E27FC236}">
                <a16:creationId xmlns:a16="http://schemas.microsoft.com/office/drawing/2014/main" id="{31E9A1EB-9FC0-466C-8F16-DA1EC5220FE5}"/>
              </a:ext>
            </a:extLst>
          </p:cNvPr>
          <p:cNvSpPr>
            <a:spLocks noGrp="1"/>
          </p:cNvSpPr>
          <p:nvPr>
            <p:ph type="body" sz="quarter" idx="10"/>
          </p:nvPr>
        </p:nvSpPr>
        <p:spPr/>
        <p:txBody>
          <a:bodyPr>
            <a:normAutofit fontScale="85000" lnSpcReduction="20000"/>
          </a:bodyPr>
          <a:lstStyle/>
          <a:p>
            <a:r>
              <a:rPr kumimoji="1" lang="en-US" altLang="ja-JP" dirty="0"/>
              <a:t>2025/11/27</a:t>
            </a:r>
          </a:p>
        </p:txBody>
      </p:sp>
    </p:spTree>
    <p:extLst>
      <p:ext uri="{BB962C8B-B14F-4D97-AF65-F5344CB8AC3E}">
        <p14:creationId xmlns:p14="http://schemas.microsoft.com/office/powerpoint/2010/main" val="2453032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3B7F007-AEB6-585F-B5DC-7504AFB4795C}"/>
              </a:ext>
            </a:extLst>
          </p:cNvPr>
          <p:cNvSpPr>
            <a:spLocks noGrp="1"/>
          </p:cNvSpPr>
          <p:nvPr>
            <p:ph sz="quarter" idx="12"/>
          </p:nvPr>
        </p:nvSpPr>
        <p:spPr/>
        <p:txBody>
          <a:bodyPr/>
          <a:lstStyle/>
          <a:p>
            <a:pPr indent="0">
              <a:buNone/>
            </a:pPr>
            <a:r>
              <a:rPr kumimoji="1" lang="ja-JP" altLang="en-US" dirty="0"/>
              <a:t>目次</a:t>
            </a:r>
          </a:p>
        </p:txBody>
      </p:sp>
      <p:sp>
        <p:nvSpPr>
          <p:cNvPr id="4" name="コンテンツ プレースホルダー 3">
            <a:extLst>
              <a:ext uri="{FF2B5EF4-FFF2-40B4-BE49-F238E27FC236}">
                <a16:creationId xmlns:a16="http://schemas.microsoft.com/office/drawing/2014/main" id="{AE08D463-15F2-D416-1E63-DAE1A43CE6E8}"/>
              </a:ext>
            </a:extLst>
          </p:cNvPr>
          <p:cNvSpPr>
            <a:spLocks noGrp="1"/>
          </p:cNvSpPr>
          <p:nvPr>
            <p:ph sz="quarter" idx="14"/>
          </p:nvPr>
        </p:nvSpPr>
        <p:spPr/>
        <p:txBody>
          <a:bodyPr>
            <a:normAutofit lnSpcReduction="10000"/>
          </a:bodyPr>
          <a:lstStyle/>
          <a:p>
            <a:pPr marL="0" indent="0">
              <a:buNone/>
            </a:pPr>
            <a:r>
              <a:rPr kumimoji="1" lang="ja-JP" altLang="en-US" dirty="0"/>
              <a:t>・</a:t>
            </a:r>
            <a:r>
              <a:rPr kumimoji="1" lang="en-US" altLang="ja-JP" dirty="0"/>
              <a:t>P3	 </a:t>
            </a:r>
            <a:r>
              <a:rPr kumimoji="1" lang="ja-JP" altLang="en-US" dirty="0"/>
              <a:t>全体の流れ </a:t>
            </a:r>
            <a:r>
              <a:rPr kumimoji="1" lang="en-US" altLang="ja-JP" dirty="0"/>
              <a:t>(</a:t>
            </a:r>
            <a:r>
              <a:rPr lang="ja-JP" altLang="ja-JP" dirty="0"/>
              <a:t>Overall Flow</a:t>
            </a:r>
            <a:r>
              <a:rPr kumimoji="1" lang="en-US" altLang="ja-JP" dirty="0"/>
              <a:t>)</a:t>
            </a:r>
          </a:p>
          <a:p>
            <a:pPr marL="0" indent="0">
              <a:buNone/>
            </a:pPr>
            <a:endParaRPr lang="en-US" altLang="ja-JP" dirty="0"/>
          </a:p>
          <a:p>
            <a:pPr marL="0" indent="0">
              <a:buNone/>
            </a:pPr>
            <a:r>
              <a:rPr kumimoji="1" lang="ja-JP" altLang="en-US" dirty="0"/>
              <a:t>・</a:t>
            </a:r>
            <a:r>
              <a:rPr kumimoji="1" lang="en-US" altLang="ja-JP" dirty="0"/>
              <a:t>P4	 </a:t>
            </a:r>
            <a:r>
              <a:rPr kumimoji="1" lang="ja-JP" altLang="en-US" dirty="0"/>
              <a:t>注意事項 </a:t>
            </a:r>
            <a:r>
              <a:rPr kumimoji="1" lang="en-US" altLang="ja-JP" dirty="0"/>
              <a:t>(Precautions)</a:t>
            </a:r>
          </a:p>
          <a:p>
            <a:pPr marL="0" indent="0">
              <a:buNone/>
            </a:pPr>
            <a:endParaRPr kumimoji="1" lang="en-US" altLang="ja-JP" dirty="0"/>
          </a:p>
          <a:p>
            <a:pPr marL="0" indent="0">
              <a:buNone/>
            </a:pPr>
            <a:r>
              <a:rPr lang="ja-JP" altLang="en-US" dirty="0"/>
              <a:t>・</a:t>
            </a:r>
            <a:r>
              <a:rPr lang="en-US" altLang="ja-JP" dirty="0"/>
              <a:t>P5	 </a:t>
            </a:r>
            <a:r>
              <a:rPr lang="ja-JP" altLang="en-US" dirty="0"/>
              <a:t>手動で溶着する方法 </a:t>
            </a:r>
            <a:r>
              <a:rPr lang="en-US" altLang="ja-JP" dirty="0"/>
              <a:t>(</a:t>
            </a:r>
            <a:r>
              <a:rPr lang="ja-JP" altLang="ja-JP" dirty="0"/>
              <a:t>How to Weld Manually</a:t>
            </a:r>
            <a:r>
              <a:rPr lang="en-US" altLang="ja-JP" dirty="0"/>
              <a:t>)</a:t>
            </a:r>
          </a:p>
          <a:p>
            <a:pPr marL="0" indent="0">
              <a:buNone/>
            </a:pPr>
            <a:endParaRPr lang="en-US" altLang="ja-JP" dirty="0"/>
          </a:p>
          <a:p>
            <a:pPr marL="0" indent="0">
              <a:buNone/>
            </a:pPr>
            <a:r>
              <a:rPr kumimoji="1" lang="ja-JP" altLang="en-US" dirty="0"/>
              <a:t>・</a:t>
            </a:r>
            <a:r>
              <a:rPr lang="en-US" altLang="ja-JP" dirty="0"/>
              <a:t>P7	 </a:t>
            </a:r>
            <a:r>
              <a:rPr kumimoji="1" lang="ja-JP" altLang="en-US" dirty="0"/>
              <a:t>溶着方法 </a:t>
            </a:r>
            <a:r>
              <a:rPr kumimoji="1" lang="en-US" altLang="ja-JP" dirty="0"/>
              <a:t>(</a:t>
            </a:r>
            <a:r>
              <a:rPr lang="ja-JP" altLang="ja-JP" dirty="0"/>
              <a:t>Welding Method</a:t>
            </a:r>
            <a:r>
              <a:rPr kumimoji="1" lang="en-US" altLang="ja-JP" dirty="0"/>
              <a:t>)</a:t>
            </a:r>
          </a:p>
          <a:p>
            <a:pPr marL="0" indent="0">
              <a:buNone/>
            </a:pPr>
            <a:endParaRPr lang="en-US" altLang="ja-JP" dirty="0"/>
          </a:p>
          <a:p>
            <a:pPr marL="0" indent="0">
              <a:buNone/>
            </a:pPr>
            <a:r>
              <a:rPr kumimoji="1" lang="ja-JP" altLang="en-US" dirty="0"/>
              <a:t>・</a:t>
            </a:r>
            <a:r>
              <a:rPr kumimoji="1" lang="en-US" altLang="ja-JP" dirty="0"/>
              <a:t>P17 Q</a:t>
            </a:r>
            <a:r>
              <a:rPr kumimoji="1" lang="ja-JP" altLang="en-US" dirty="0"/>
              <a:t>＆</a:t>
            </a:r>
            <a:r>
              <a:rPr kumimoji="1" lang="en-US" altLang="ja-JP" dirty="0"/>
              <a:t>A</a:t>
            </a:r>
          </a:p>
          <a:p>
            <a:pPr marL="0" indent="0">
              <a:buNone/>
            </a:pPr>
            <a:endParaRPr kumimoji="1" lang="en-US" altLang="ja-JP" dirty="0"/>
          </a:p>
        </p:txBody>
      </p:sp>
    </p:spTree>
    <p:extLst>
      <p:ext uri="{BB962C8B-B14F-4D97-AF65-F5344CB8AC3E}">
        <p14:creationId xmlns:p14="http://schemas.microsoft.com/office/powerpoint/2010/main" val="377222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D8D5-C2CC-2A6D-07F2-6456476A804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CDDB4E8-AE49-CED5-BE4A-E311FA2F0D5A}"/>
              </a:ext>
            </a:extLst>
          </p:cNvPr>
          <p:cNvSpPr>
            <a:spLocks noGrp="1"/>
          </p:cNvSpPr>
          <p:nvPr>
            <p:ph sz="quarter" idx="12"/>
          </p:nvPr>
        </p:nvSpPr>
        <p:spPr/>
        <p:txBody>
          <a:bodyPr>
            <a:normAutofit/>
          </a:bodyPr>
          <a:lstStyle/>
          <a:p>
            <a:pPr indent="0">
              <a:buNone/>
            </a:pPr>
            <a:r>
              <a:rPr lang="ja-JP" altLang="en-US" dirty="0"/>
              <a:t>流れ </a:t>
            </a:r>
            <a:r>
              <a:rPr lang="en-US" altLang="ja-JP" dirty="0"/>
              <a:t>(flow)</a:t>
            </a:r>
          </a:p>
        </p:txBody>
      </p:sp>
      <p:sp>
        <p:nvSpPr>
          <p:cNvPr id="3" name="AutoShape 2" descr="IMG_0602">
            <a:extLst>
              <a:ext uri="{FF2B5EF4-FFF2-40B4-BE49-F238E27FC236}">
                <a16:creationId xmlns:a16="http://schemas.microsoft.com/office/drawing/2014/main" id="{537BF20C-E4BA-769B-6FD9-3A9B40E0671E}"/>
              </a:ext>
            </a:extLst>
          </p:cNvPr>
          <p:cNvSpPr>
            <a:spLocks noChangeAspect="1" noChangeArrowheads="1"/>
          </p:cNvSpPr>
          <p:nvPr/>
        </p:nvSpPr>
        <p:spPr bwMode="auto">
          <a:xfrm>
            <a:off x="9193427" y="211506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7" name="コンテンツ プレースホルダー 3">
            <a:extLst>
              <a:ext uri="{FF2B5EF4-FFF2-40B4-BE49-F238E27FC236}">
                <a16:creationId xmlns:a16="http://schemas.microsoft.com/office/drawing/2014/main" id="{86B04A07-A380-3C41-FC20-C04AA98E3D85}"/>
              </a:ext>
            </a:extLst>
          </p:cNvPr>
          <p:cNvSpPr txBox="1">
            <a:spLocks/>
          </p:cNvSpPr>
          <p:nvPr/>
        </p:nvSpPr>
        <p:spPr>
          <a:xfrm>
            <a:off x="346613" y="1105086"/>
            <a:ext cx="10122753" cy="7178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溶着したい形を作製し</a:t>
            </a:r>
            <a:r>
              <a:rPr lang="en-US" altLang="ja-JP" dirty="0" err="1"/>
              <a:t>dxf</a:t>
            </a:r>
            <a:r>
              <a:rPr lang="ja-JP" altLang="en-US" dirty="0"/>
              <a:t>ファイルで読み込ませる</a:t>
            </a:r>
            <a:endParaRPr lang="en-US" altLang="ja-JP" dirty="0"/>
          </a:p>
          <a:p>
            <a:pPr marL="0" indent="0">
              <a:buNone/>
            </a:pPr>
            <a:r>
              <a:rPr lang="en-US" altLang="ja-JP" dirty="0"/>
              <a:t>(Create the shape you want to weld and import it as a DXF file.)</a:t>
            </a:r>
          </a:p>
          <a:p>
            <a:pPr marL="0" indent="0">
              <a:buFont typeface="Arial" panose="020B0604020202020204" pitchFamily="34" charset="0"/>
              <a:buNone/>
            </a:pPr>
            <a:r>
              <a:rPr lang="en-US" altLang="ja-JP" dirty="0"/>
              <a:t>	</a:t>
            </a:r>
            <a:r>
              <a:rPr lang="ja-JP" altLang="en-US" dirty="0"/>
              <a:t>↓</a:t>
            </a:r>
            <a:endParaRPr lang="en-US" altLang="ja-JP" dirty="0"/>
          </a:p>
          <a:p>
            <a:pPr marL="0" indent="0">
              <a:buFont typeface="Arial" panose="020B0604020202020204" pitchFamily="34" charset="0"/>
              <a:buNone/>
            </a:pPr>
            <a:r>
              <a:rPr lang="ja-JP" altLang="en-US" dirty="0"/>
              <a:t>溶着点データを作製・修正</a:t>
            </a:r>
            <a:endParaRPr lang="en-US" altLang="ja-JP" dirty="0"/>
          </a:p>
          <a:p>
            <a:pPr marL="0" indent="0">
              <a:buNone/>
            </a:pPr>
            <a:r>
              <a:rPr lang="en-US" altLang="ja-JP" dirty="0"/>
              <a:t>(Creating and correcting welding point data)</a:t>
            </a:r>
          </a:p>
          <a:p>
            <a:pPr marL="0" indent="0">
              <a:buFont typeface="Arial" panose="020B0604020202020204" pitchFamily="34" charset="0"/>
              <a:buNone/>
            </a:pPr>
            <a:r>
              <a:rPr lang="en-US" altLang="ja-JP" dirty="0"/>
              <a:t>	</a:t>
            </a:r>
            <a:r>
              <a:rPr lang="ja-JP" altLang="en-US" dirty="0"/>
              <a:t>↓</a:t>
            </a:r>
            <a:endParaRPr lang="en-US" altLang="ja-JP" dirty="0"/>
          </a:p>
          <a:p>
            <a:pPr marL="0" indent="0">
              <a:buFont typeface="Arial" panose="020B0604020202020204" pitchFamily="34" charset="0"/>
              <a:buNone/>
            </a:pPr>
            <a:r>
              <a:rPr lang="ja-JP" altLang="en-US" dirty="0"/>
              <a:t>溶着開始</a:t>
            </a:r>
            <a:endParaRPr lang="en-US" altLang="ja-JP" dirty="0"/>
          </a:p>
          <a:p>
            <a:pPr marL="0" indent="0">
              <a:buNone/>
            </a:pPr>
            <a:r>
              <a:rPr lang="en-US" altLang="ja-JP" dirty="0"/>
              <a:t>(Start of welding)</a:t>
            </a:r>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p:txBody>
      </p:sp>
      <p:sp>
        <p:nvSpPr>
          <p:cNvPr id="10" name="コンテンツ プレースホルダー 3">
            <a:extLst>
              <a:ext uri="{FF2B5EF4-FFF2-40B4-BE49-F238E27FC236}">
                <a16:creationId xmlns:a16="http://schemas.microsoft.com/office/drawing/2014/main" id="{75800714-F257-116E-04C1-52991C4FEB46}"/>
              </a:ext>
            </a:extLst>
          </p:cNvPr>
          <p:cNvSpPr txBox="1">
            <a:spLocks/>
          </p:cNvSpPr>
          <p:nvPr/>
        </p:nvSpPr>
        <p:spPr>
          <a:xfrm>
            <a:off x="7589313" y="4031992"/>
            <a:ext cx="4195145" cy="6655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endParaRPr lang="en-US" altLang="ja-JP" sz="3200" dirty="0"/>
          </a:p>
        </p:txBody>
      </p:sp>
    </p:spTree>
    <p:extLst>
      <p:ext uri="{BB962C8B-B14F-4D97-AF65-F5344CB8AC3E}">
        <p14:creationId xmlns:p14="http://schemas.microsoft.com/office/powerpoint/2010/main" val="926422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6F5A9C3-3AFD-2935-F128-1E4B734FC014}"/>
              </a:ext>
            </a:extLst>
          </p:cNvPr>
          <p:cNvSpPr>
            <a:spLocks noGrp="1"/>
          </p:cNvSpPr>
          <p:nvPr>
            <p:ph sz="quarter" idx="12"/>
          </p:nvPr>
        </p:nvSpPr>
        <p:spPr/>
        <p:txBody>
          <a:bodyPr/>
          <a:lstStyle/>
          <a:p>
            <a:pPr indent="0">
              <a:buNone/>
            </a:pPr>
            <a:r>
              <a:rPr kumimoji="1" lang="ja-JP" altLang="en-US" dirty="0"/>
              <a:t>注意事項 </a:t>
            </a:r>
            <a:r>
              <a:rPr lang="en-US" altLang="ja-JP" dirty="0"/>
              <a:t>(P</a:t>
            </a:r>
            <a:r>
              <a:rPr kumimoji="1" lang="en-US" altLang="ja-JP" dirty="0"/>
              <a:t>recaution</a:t>
            </a:r>
            <a:r>
              <a:rPr lang="en-US" altLang="ja-JP" dirty="0"/>
              <a:t>)</a:t>
            </a:r>
            <a:endParaRPr kumimoji="1" lang="ja-JP" altLang="en-US" dirty="0"/>
          </a:p>
        </p:txBody>
      </p:sp>
      <p:sp>
        <p:nvSpPr>
          <p:cNvPr id="4" name="コンテンツ プレースホルダー 3">
            <a:extLst>
              <a:ext uri="{FF2B5EF4-FFF2-40B4-BE49-F238E27FC236}">
                <a16:creationId xmlns:a16="http://schemas.microsoft.com/office/drawing/2014/main" id="{F80C9F15-B2C5-74BF-4301-BA13C6A348D2}"/>
              </a:ext>
            </a:extLst>
          </p:cNvPr>
          <p:cNvSpPr>
            <a:spLocks noGrp="1"/>
          </p:cNvSpPr>
          <p:nvPr>
            <p:ph sz="quarter" idx="14"/>
          </p:nvPr>
        </p:nvSpPr>
        <p:spPr>
          <a:xfrm>
            <a:off x="546100" y="974785"/>
            <a:ext cx="11099800" cy="6035615"/>
          </a:xfrm>
        </p:spPr>
        <p:txBody>
          <a:bodyPr>
            <a:noAutofit/>
          </a:bodyPr>
          <a:lstStyle/>
          <a:p>
            <a:pPr marL="0" indent="0">
              <a:buNone/>
            </a:pPr>
            <a:r>
              <a:rPr kumimoji="1" lang="ja-JP" altLang="en-US" sz="2400" dirty="0"/>
              <a:t>・何かあったら非常停止ボタンを押してください．押した</a:t>
            </a:r>
            <a:r>
              <a:rPr lang="ja-JP" altLang="ja-JP" sz="2400" dirty="0"/>
              <a:t>場合は最初からpythonプログラムの起動からやり直してください</a:t>
            </a:r>
            <a:br>
              <a:rPr lang="en-US" altLang="ja-JP" sz="2400" dirty="0"/>
            </a:br>
            <a:r>
              <a:rPr lang="en-US" altLang="ja-JP" sz="2400" dirty="0"/>
              <a:t>(</a:t>
            </a:r>
            <a:r>
              <a:rPr lang="ja-JP" altLang="ja-JP" sz="2400" dirty="0"/>
              <a:t>If anything happens, press the emergency stop button. If pressed, please restart the Python program from the beginning.</a:t>
            </a:r>
            <a:r>
              <a:rPr lang="en-US" altLang="ja-JP" sz="2400" dirty="0"/>
              <a:t>)</a:t>
            </a:r>
            <a:br>
              <a:rPr lang="en-US" altLang="ja-JP" sz="2400" dirty="0"/>
            </a:br>
            <a:br>
              <a:rPr lang="en-US" altLang="ja-JP" sz="2400" dirty="0"/>
            </a:br>
            <a:endParaRPr kumimoji="1" lang="en-US" altLang="ja-JP" sz="2400" dirty="0"/>
          </a:p>
          <a:p>
            <a:pPr marL="0" indent="0">
              <a:buNone/>
            </a:pPr>
            <a:r>
              <a:rPr kumimoji="1" lang="ja-JP" altLang="en-US" sz="2400" dirty="0"/>
              <a:t>・溶着機の先端や溶着したところは熱い可能性があるので気を付けてください</a:t>
            </a:r>
            <a:br>
              <a:rPr kumimoji="1" lang="en-US" altLang="ja-JP" sz="2400" dirty="0"/>
            </a:br>
            <a:r>
              <a:rPr kumimoji="1" lang="en-US" altLang="ja-JP" sz="2400" dirty="0"/>
              <a:t>(</a:t>
            </a:r>
            <a:r>
              <a:rPr lang="ja-JP" altLang="ja-JP" sz="2400" dirty="0"/>
              <a:t>Be careful, as the tip of the welding machine and the welded areas may be hot.</a:t>
            </a:r>
            <a:r>
              <a:rPr kumimoji="1" lang="en-US" altLang="ja-JP" sz="2400" dirty="0"/>
              <a:t>)</a:t>
            </a:r>
          </a:p>
          <a:p>
            <a:pPr marL="0" indent="0">
              <a:buNone/>
            </a:pPr>
            <a:endParaRPr lang="en-US" altLang="ja-JP" sz="2400" dirty="0"/>
          </a:p>
          <a:p>
            <a:pPr marL="0" indent="0">
              <a:buNone/>
            </a:pPr>
            <a:r>
              <a:rPr kumimoji="1" lang="ja-JP" altLang="en-US" sz="2400" dirty="0"/>
              <a:t>・途中で緊急停止やトラブルがあると、溶着機の先端が下についていることがあります。この状態で</a:t>
            </a:r>
            <a:r>
              <a:rPr kumimoji="1" lang="en-US" altLang="ja-JP" sz="2400" dirty="0"/>
              <a:t>XY</a:t>
            </a:r>
            <a:r>
              <a:rPr kumimoji="1" lang="ja-JP" altLang="en-US" sz="2400" dirty="0"/>
              <a:t>軸を動かさないでください。</a:t>
            </a:r>
            <a:br>
              <a:rPr kumimoji="1" lang="en-US" altLang="ja-JP" sz="2400" dirty="0"/>
            </a:br>
            <a:r>
              <a:rPr kumimoji="1" lang="en-US" altLang="ja-JP" sz="2400" dirty="0"/>
              <a:t>Z</a:t>
            </a:r>
            <a:r>
              <a:rPr kumimoji="1" lang="ja-JP" altLang="en-US" sz="2400" dirty="0"/>
              <a:t>軸高さというところがあるのでここのパルス指定を</a:t>
            </a:r>
            <a:r>
              <a:rPr kumimoji="1" lang="en-US" altLang="ja-JP" sz="2400" dirty="0"/>
              <a:t>2000</a:t>
            </a:r>
            <a:r>
              <a:rPr kumimoji="1" lang="ja-JP" altLang="en-US" sz="2400" dirty="0"/>
              <a:t>にするか、</a:t>
            </a:r>
            <a:r>
              <a:rPr lang="en-US" altLang="ja-JP" sz="2400" dirty="0"/>
              <a:t>python</a:t>
            </a:r>
            <a:r>
              <a:rPr lang="ja-JP" altLang="en-US" sz="2400" dirty="0"/>
              <a:t>プログラムを終了し、もう一度立ち上げてください</a:t>
            </a:r>
            <a:br>
              <a:rPr lang="en-US" altLang="ja-JP" sz="2400" dirty="0"/>
            </a:br>
            <a:r>
              <a:rPr lang="en-US" altLang="ja-JP" sz="2400" dirty="0"/>
              <a:t>(If an emergency stop or issue occurs mid-operation, the welder tip may remain lowered. Do NOT move the X and Y axes in this state. &gt; Please set the </a:t>
            </a:r>
            <a:r>
              <a:rPr lang="ja-JP" altLang="en-US" sz="2400" dirty="0"/>
              <a:t>パルス </a:t>
            </a:r>
            <a:r>
              <a:rPr lang="en-US" altLang="ja-JP" sz="2400" dirty="0"/>
              <a:t>value in the " Z</a:t>
            </a:r>
            <a:r>
              <a:rPr lang="ja-JP" altLang="en-US" sz="2400" dirty="0"/>
              <a:t>軸高さ</a:t>
            </a:r>
            <a:r>
              <a:rPr lang="en-US" altLang="ja-JP" sz="2400" dirty="0"/>
              <a:t>" field to 2000, or close the Python program and restart it.)</a:t>
            </a:r>
            <a:endParaRPr kumimoji="1" lang="en-US" altLang="ja-JP" sz="2400" dirty="0"/>
          </a:p>
          <a:p>
            <a:pPr marL="0" indent="0">
              <a:buNone/>
            </a:pPr>
            <a:endParaRPr kumimoji="1" lang="ja-JP" altLang="en-US" dirty="0"/>
          </a:p>
        </p:txBody>
      </p:sp>
    </p:spTree>
    <p:extLst>
      <p:ext uri="{BB962C8B-B14F-4D97-AF65-F5344CB8AC3E}">
        <p14:creationId xmlns:p14="http://schemas.microsoft.com/office/powerpoint/2010/main" val="2389710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453FA2D-5210-104D-3906-10A766828C25}"/>
              </a:ext>
            </a:extLst>
          </p:cNvPr>
          <p:cNvSpPr>
            <a:spLocks noGrp="1"/>
          </p:cNvSpPr>
          <p:nvPr>
            <p:ph sz="quarter" idx="12"/>
          </p:nvPr>
        </p:nvSpPr>
        <p:spPr/>
        <p:txBody>
          <a:bodyPr/>
          <a:lstStyle/>
          <a:p>
            <a:pPr indent="0">
              <a:buNone/>
            </a:pPr>
            <a:r>
              <a:rPr kumimoji="1" lang="ja-JP" altLang="en-US" dirty="0"/>
              <a:t>０　溶着機の使い方 </a:t>
            </a:r>
            <a:r>
              <a:rPr kumimoji="1" lang="en-US" altLang="ja-JP" dirty="0"/>
              <a:t>(How to use)</a:t>
            </a:r>
            <a:endParaRPr kumimoji="1" lang="ja-JP" altLang="en-US" dirty="0"/>
          </a:p>
        </p:txBody>
      </p:sp>
    </p:spTree>
    <p:extLst>
      <p:ext uri="{BB962C8B-B14F-4D97-AF65-F5344CB8AC3E}">
        <p14:creationId xmlns:p14="http://schemas.microsoft.com/office/powerpoint/2010/main" val="1291864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2926D48-B0AB-EC3C-06F8-67907C3AD6A4}"/>
              </a:ext>
            </a:extLst>
          </p:cNvPr>
          <p:cNvSpPr>
            <a:spLocks noGrp="1"/>
          </p:cNvSpPr>
          <p:nvPr>
            <p:ph sz="quarter" idx="12"/>
          </p:nvPr>
        </p:nvSpPr>
        <p:spPr/>
        <p:txBody>
          <a:bodyPr/>
          <a:lstStyle/>
          <a:p>
            <a:pPr indent="0">
              <a:buNone/>
            </a:pPr>
            <a:r>
              <a:rPr lang="en-US" altLang="ja-JP" dirty="0"/>
              <a:t>0</a:t>
            </a:r>
            <a:r>
              <a:rPr lang="ja-JP" altLang="en-US" dirty="0"/>
              <a:t>　溶着機の外し方 </a:t>
            </a:r>
            <a:r>
              <a:rPr lang="en-US" altLang="ja-JP" dirty="0"/>
              <a:t>(</a:t>
            </a:r>
            <a:r>
              <a:rPr lang="ja-JP" altLang="ja-JP" dirty="0"/>
              <a:t>Removal of the Welding Machine</a:t>
            </a:r>
            <a:r>
              <a:rPr lang="en-US" altLang="ja-JP" dirty="0"/>
              <a:t>)</a:t>
            </a:r>
            <a:endParaRPr kumimoji="1" lang="ja-JP" altLang="en-US" dirty="0"/>
          </a:p>
        </p:txBody>
      </p:sp>
      <p:pic>
        <p:nvPicPr>
          <p:cNvPr id="8" name="図 7">
            <a:extLst>
              <a:ext uri="{FF2B5EF4-FFF2-40B4-BE49-F238E27FC236}">
                <a16:creationId xmlns:a16="http://schemas.microsoft.com/office/drawing/2014/main" id="{B96CBB6C-2491-7856-3F54-545343B3C5DC}"/>
              </a:ext>
            </a:extLst>
          </p:cNvPr>
          <p:cNvPicPr>
            <a:picLocks noChangeAspect="1"/>
          </p:cNvPicPr>
          <p:nvPr/>
        </p:nvPicPr>
        <p:blipFill>
          <a:blip r:embed="rId2" cstate="print">
            <a:extLst>
              <a:ext uri="{28A0092B-C50C-407E-A947-70E740481C1C}">
                <a14:useLocalDpi xmlns:a14="http://schemas.microsoft.com/office/drawing/2010/main" val="0"/>
              </a:ext>
            </a:extLst>
          </a:blip>
          <a:srcRect l="28966" t="38095" r="29813" b="27529"/>
          <a:stretch>
            <a:fillRect/>
          </a:stretch>
        </p:blipFill>
        <p:spPr>
          <a:xfrm>
            <a:off x="8397167" y="2604944"/>
            <a:ext cx="2120204" cy="2357463"/>
          </a:xfrm>
          <a:prstGeom prst="rect">
            <a:avLst/>
          </a:prstGeom>
        </p:spPr>
      </p:pic>
      <p:pic>
        <p:nvPicPr>
          <p:cNvPr id="10" name="図 9">
            <a:extLst>
              <a:ext uri="{FF2B5EF4-FFF2-40B4-BE49-F238E27FC236}">
                <a16:creationId xmlns:a16="http://schemas.microsoft.com/office/drawing/2014/main" id="{C58A4AF4-24D2-2940-67C7-C6C2FF945BDC}"/>
              </a:ext>
            </a:extLst>
          </p:cNvPr>
          <p:cNvPicPr>
            <a:picLocks noChangeAspect="1"/>
          </p:cNvPicPr>
          <p:nvPr/>
        </p:nvPicPr>
        <p:blipFill>
          <a:blip r:embed="rId3" cstate="print">
            <a:extLst>
              <a:ext uri="{28A0092B-C50C-407E-A947-70E740481C1C}">
                <a14:useLocalDpi xmlns:a14="http://schemas.microsoft.com/office/drawing/2010/main" val="0"/>
              </a:ext>
            </a:extLst>
          </a:blip>
          <a:srcRect l="35348" t="11868" r="31767" b="11355"/>
          <a:stretch>
            <a:fillRect/>
          </a:stretch>
        </p:blipFill>
        <p:spPr>
          <a:xfrm>
            <a:off x="375042" y="1477937"/>
            <a:ext cx="1691473" cy="5265337"/>
          </a:xfrm>
          <a:prstGeom prst="rect">
            <a:avLst/>
          </a:prstGeom>
        </p:spPr>
      </p:pic>
      <p:pic>
        <p:nvPicPr>
          <p:cNvPr id="12" name="図 11">
            <a:extLst>
              <a:ext uri="{FF2B5EF4-FFF2-40B4-BE49-F238E27FC236}">
                <a16:creationId xmlns:a16="http://schemas.microsoft.com/office/drawing/2014/main" id="{CDBE5DC3-8E80-944C-AA09-6A7679B3E2DA}"/>
              </a:ext>
            </a:extLst>
          </p:cNvPr>
          <p:cNvPicPr>
            <a:picLocks noChangeAspect="1"/>
          </p:cNvPicPr>
          <p:nvPr/>
        </p:nvPicPr>
        <p:blipFill>
          <a:blip r:embed="rId4" cstate="print">
            <a:extLst>
              <a:ext uri="{28A0092B-C50C-407E-A947-70E740481C1C}">
                <a14:useLocalDpi xmlns:a14="http://schemas.microsoft.com/office/drawing/2010/main" val="0"/>
              </a:ext>
            </a:extLst>
          </a:blip>
          <a:srcRect l="7619" t="14213" r="7216" b="34652"/>
          <a:stretch>
            <a:fillRect/>
          </a:stretch>
        </p:blipFill>
        <p:spPr>
          <a:xfrm>
            <a:off x="2756598" y="1624959"/>
            <a:ext cx="4006216" cy="1804041"/>
          </a:xfrm>
          <a:prstGeom prst="rect">
            <a:avLst/>
          </a:prstGeom>
        </p:spPr>
      </p:pic>
      <p:cxnSp>
        <p:nvCxnSpPr>
          <p:cNvPr id="16" name="直線矢印コネクタ 15">
            <a:extLst>
              <a:ext uri="{FF2B5EF4-FFF2-40B4-BE49-F238E27FC236}">
                <a16:creationId xmlns:a16="http://schemas.microsoft.com/office/drawing/2014/main" id="{45FACFE9-261C-2B1F-DDD4-E3A999DB097C}"/>
              </a:ext>
            </a:extLst>
          </p:cNvPr>
          <p:cNvCxnSpPr>
            <a:cxnSpLocks/>
          </p:cNvCxnSpPr>
          <p:nvPr/>
        </p:nvCxnSpPr>
        <p:spPr>
          <a:xfrm flipH="1" flipV="1">
            <a:off x="1674629" y="4137656"/>
            <a:ext cx="187623" cy="241159"/>
          </a:xfrm>
          <a:prstGeom prst="straightConnector1">
            <a:avLst/>
          </a:prstGeom>
          <a:ln w="38100">
            <a:solidFill>
              <a:srgbClr val="FF0000"/>
            </a:solidFill>
            <a:tailEnd type="triangle"/>
          </a:ln>
          <a:effectLst>
            <a:glow rad="38100">
              <a:schemeClr val="bg1">
                <a:alpha val="84000"/>
              </a:schemeClr>
            </a:glow>
          </a:effectLst>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2299C204-B3FD-6087-822D-6BF5C9FC6882}"/>
              </a:ext>
            </a:extLst>
          </p:cNvPr>
          <p:cNvCxnSpPr>
            <a:cxnSpLocks/>
          </p:cNvCxnSpPr>
          <p:nvPr/>
        </p:nvCxnSpPr>
        <p:spPr>
          <a:xfrm flipH="1" flipV="1">
            <a:off x="1137043" y="4170895"/>
            <a:ext cx="83735" cy="274979"/>
          </a:xfrm>
          <a:prstGeom prst="straightConnector1">
            <a:avLst/>
          </a:prstGeom>
          <a:ln w="38100">
            <a:solidFill>
              <a:srgbClr val="FF0000"/>
            </a:solidFill>
            <a:tailEnd type="triangle"/>
          </a:ln>
          <a:effectLst>
            <a:glow rad="38100">
              <a:schemeClr val="bg1">
                <a:alpha val="84000"/>
              </a:schemeClr>
            </a:glow>
          </a:effectLst>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14DB4604-E30E-84FA-4471-0B95D8123120}"/>
              </a:ext>
            </a:extLst>
          </p:cNvPr>
          <p:cNvSpPr txBox="1"/>
          <p:nvPr/>
        </p:nvSpPr>
        <p:spPr>
          <a:xfrm>
            <a:off x="264134" y="831606"/>
            <a:ext cx="2249769" cy="646331"/>
          </a:xfrm>
          <a:prstGeom prst="rect">
            <a:avLst/>
          </a:prstGeom>
          <a:noFill/>
        </p:spPr>
        <p:txBody>
          <a:bodyPr wrap="square" rtlCol="0">
            <a:spAutoFit/>
          </a:bodyPr>
          <a:lstStyle/>
          <a:p>
            <a:r>
              <a:rPr kumimoji="1" lang="ja-JP" altLang="en-US" dirty="0"/>
              <a:t>①ねじを外す </a:t>
            </a:r>
            <a:r>
              <a:rPr kumimoji="1" lang="en-US" altLang="ja-JP" dirty="0"/>
              <a:t>(</a:t>
            </a:r>
            <a:r>
              <a:rPr lang="ja-JP" altLang="ja-JP" dirty="0"/>
              <a:t>Remove the screws</a:t>
            </a:r>
            <a:r>
              <a:rPr kumimoji="1" lang="en-US" altLang="ja-JP" dirty="0"/>
              <a:t>)</a:t>
            </a:r>
            <a:endParaRPr kumimoji="1" lang="ja-JP" altLang="en-US" dirty="0"/>
          </a:p>
        </p:txBody>
      </p:sp>
      <p:sp>
        <p:nvSpPr>
          <p:cNvPr id="20" name="テキスト ボックス 19">
            <a:extLst>
              <a:ext uri="{FF2B5EF4-FFF2-40B4-BE49-F238E27FC236}">
                <a16:creationId xmlns:a16="http://schemas.microsoft.com/office/drawing/2014/main" id="{5977FE4B-A2A5-351B-F601-D6883E210181}"/>
              </a:ext>
            </a:extLst>
          </p:cNvPr>
          <p:cNvSpPr txBox="1"/>
          <p:nvPr/>
        </p:nvSpPr>
        <p:spPr>
          <a:xfrm>
            <a:off x="2676351" y="842093"/>
            <a:ext cx="4540317" cy="646331"/>
          </a:xfrm>
          <a:prstGeom prst="rect">
            <a:avLst/>
          </a:prstGeom>
          <a:noFill/>
        </p:spPr>
        <p:txBody>
          <a:bodyPr wrap="square" rtlCol="0">
            <a:spAutoFit/>
          </a:bodyPr>
          <a:lstStyle/>
          <a:p>
            <a:r>
              <a:rPr kumimoji="1" lang="ja-JP" altLang="en-US" dirty="0"/>
              <a:t>②ケーブルチェーンから線を外す</a:t>
            </a:r>
            <a:br>
              <a:rPr kumimoji="1" lang="en-US" altLang="ja-JP" dirty="0"/>
            </a:br>
            <a:r>
              <a:rPr kumimoji="1" lang="en-US" altLang="ja-JP" dirty="0"/>
              <a:t>(</a:t>
            </a:r>
            <a:r>
              <a:rPr lang="ja-JP" altLang="ja-JP" dirty="0"/>
              <a:t>Remove the cables from the cable chain</a:t>
            </a:r>
            <a:r>
              <a:rPr kumimoji="1" lang="en-US" altLang="ja-JP" dirty="0"/>
              <a:t>)</a:t>
            </a:r>
            <a:endParaRPr kumimoji="1" lang="ja-JP" altLang="en-US" dirty="0"/>
          </a:p>
        </p:txBody>
      </p:sp>
      <p:sp>
        <p:nvSpPr>
          <p:cNvPr id="21" name="テキスト ボックス 20">
            <a:extLst>
              <a:ext uri="{FF2B5EF4-FFF2-40B4-BE49-F238E27FC236}">
                <a16:creationId xmlns:a16="http://schemas.microsoft.com/office/drawing/2014/main" id="{FF518D92-4F85-A2C3-EB47-16C332B87DD5}"/>
              </a:ext>
            </a:extLst>
          </p:cNvPr>
          <p:cNvSpPr txBox="1"/>
          <p:nvPr/>
        </p:nvSpPr>
        <p:spPr>
          <a:xfrm>
            <a:off x="7216668" y="842093"/>
            <a:ext cx="5122516" cy="1477328"/>
          </a:xfrm>
          <a:prstGeom prst="rect">
            <a:avLst/>
          </a:prstGeom>
          <a:noFill/>
        </p:spPr>
        <p:txBody>
          <a:bodyPr wrap="square" rtlCol="0">
            <a:spAutoFit/>
          </a:bodyPr>
          <a:lstStyle/>
          <a:p>
            <a:r>
              <a:rPr lang="ja-JP" altLang="en-US" dirty="0"/>
              <a:t>戻すときは逆の動作で。</a:t>
            </a:r>
            <a:br>
              <a:rPr lang="en-US" altLang="ja-JP" dirty="0"/>
            </a:br>
            <a:r>
              <a:rPr lang="ja-JP" altLang="en-US" dirty="0"/>
              <a:t>溶着機本体を固定するときは向きに注意</a:t>
            </a:r>
            <a:br>
              <a:rPr lang="en-US" altLang="ja-JP" dirty="0"/>
            </a:br>
            <a:r>
              <a:rPr lang="en-US" altLang="ja-JP" dirty="0"/>
              <a:t>(</a:t>
            </a:r>
            <a:r>
              <a:rPr lang="ja-JP" altLang="ja-JP" dirty="0"/>
              <a:t>To reassemble, reverse the procedure.</a:t>
            </a:r>
            <a:r>
              <a:rPr lang="en-US" altLang="ja-JP" dirty="0"/>
              <a:t> Note: Make sure the welding machine is facing the correct direction when securing it)</a:t>
            </a:r>
            <a:endParaRPr kumimoji="1" lang="ja-JP" altLang="en-US" dirty="0"/>
          </a:p>
        </p:txBody>
      </p:sp>
      <p:cxnSp>
        <p:nvCxnSpPr>
          <p:cNvPr id="24" name="直線矢印コネクタ 23">
            <a:extLst>
              <a:ext uri="{FF2B5EF4-FFF2-40B4-BE49-F238E27FC236}">
                <a16:creationId xmlns:a16="http://schemas.microsoft.com/office/drawing/2014/main" id="{A763AA51-22DE-789C-0F80-9B5D0E95F60E}"/>
              </a:ext>
            </a:extLst>
          </p:cNvPr>
          <p:cNvCxnSpPr>
            <a:cxnSpLocks/>
          </p:cNvCxnSpPr>
          <p:nvPr/>
        </p:nvCxnSpPr>
        <p:spPr>
          <a:xfrm flipH="1">
            <a:off x="4156642" y="2446591"/>
            <a:ext cx="250964" cy="316706"/>
          </a:xfrm>
          <a:prstGeom prst="straightConnector1">
            <a:avLst/>
          </a:prstGeom>
          <a:ln w="38100">
            <a:solidFill>
              <a:srgbClr val="FF0000"/>
            </a:solidFill>
            <a:tailEnd type="triangle"/>
          </a:ln>
          <a:effectLst>
            <a:glow rad="38100">
              <a:schemeClr val="bg1">
                <a:alpha val="84000"/>
              </a:schemeClr>
            </a:glow>
          </a:effectLst>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F979F4C4-E38F-1E93-6A30-6E95EEE40C80}"/>
              </a:ext>
            </a:extLst>
          </p:cNvPr>
          <p:cNvCxnSpPr>
            <a:cxnSpLocks/>
          </p:cNvCxnSpPr>
          <p:nvPr/>
        </p:nvCxnSpPr>
        <p:spPr>
          <a:xfrm flipH="1">
            <a:off x="4774887" y="2763297"/>
            <a:ext cx="250964" cy="316706"/>
          </a:xfrm>
          <a:prstGeom prst="straightConnector1">
            <a:avLst/>
          </a:prstGeom>
          <a:ln w="38100">
            <a:solidFill>
              <a:srgbClr val="FF0000"/>
            </a:solidFill>
            <a:tailEnd type="triangle"/>
          </a:ln>
          <a:effectLst>
            <a:glow rad="38100">
              <a:schemeClr val="bg1">
                <a:alpha val="84000"/>
              </a:schemeClr>
            </a:glow>
          </a:effectLst>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315311D5-50E9-7542-2B28-AEE7F137F6FF}"/>
              </a:ext>
            </a:extLst>
          </p:cNvPr>
          <p:cNvCxnSpPr>
            <a:cxnSpLocks/>
          </p:cNvCxnSpPr>
          <p:nvPr/>
        </p:nvCxnSpPr>
        <p:spPr>
          <a:xfrm>
            <a:off x="5573757" y="2968910"/>
            <a:ext cx="0" cy="414403"/>
          </a:xfrm>
          <a:prstGeom prst="straightConnector1">
            <a:avLst/>
          </a:prstGeom>
          <a:ln w="38100">
            <a:solidFill>
              <a:srgbClr val="FF0000"/>
            </a:solidFill>
            <a:tailEnd type="triangle"/>
          </a:ln>
          <a:effectLst>
            <a:glow rad="38100">
              <a:schemeClr val="bg1">
                <a:alpha val="84000"/>
              </a:schemeClr>
            </a:glow>
          </a:effectLst>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5EF4C0A1-F82A-D1EF-8EA1-72817FE4717C}"/>
              </a:ext>
            </a:extLst>
          </p:cNvPr>
          <p:cNvSpPr txBox="1"/>
          <p:nvPr/>
        </p:nvSpPr>
        <p:spPr>
          <a:xfrm>
            <a:off x="8187084" y="5063264"/>
            <a:ext cx="5122516" cy="646331"/>
          </a:xfrm>
          <a:prstGeom prst="rect">
            <a:avLst/>
          </a:prstGeom>
          <a:noFill/>
        </p:spPr>
        <p:txBody>
          <a:bodyPr wrap="square" rtlCol="0">
            <a:spAutoFit/>
          </a:bodyPr>
          <a:lstStyle/>
          <a:p>
            <a:r>
              <a:rPr kumimoji="1" lang="ja-JP" altLang="en-US" dirty="0"/>
              <a:t>溶着機を上からみた図</a:t>
            </a:r>
            <a:br>
              <a:rPr kumimoji="1" lang="en-US" altLang="ja-JP" dirty="0"/>
            </a:br>
            <a:r>
              <a:rPr kumimoji="1" lang="en-US" altLang="ja-JP" dirty="0"/>
              <a:t>(Top view of the welding machine)</a:t>
            </a:r>
            <a:endParaRPr kumimoji="1" lang="ja-JP" altLang="en-US" dirty="0"/>
          </a:p>
        </p:txBody>
      </p:sp>
    </p:spTree>
    <p:extLst>
      <p:ext uri="{BB962C8B-B14F-4D97-AF65-F5344CB8AC3E}">
        <p14:creationId xmlns:p14="http://schemas.microsoft.com/office/powerpoint/2010/main" val="850178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7068240-B616-27CB-FF98-AF1E3B21C9CB}"/>
              </a:ext>
            </a:extLst>
          </p:cNvPr>
          <p:cNvSpPr>
            <a:spLocks noGrp="1"/>
          </p:cNvSpPr>
          <p:nvPr>
            <p:ph sz="quarter" idx="12"/>
          </p:nvPr>
        </p:nvSpPr>
        <p:spPr/>
        <p:txBody>
          <a:bodyPr/>
          <a:lstStyle/>
          <a:p>
            <a:pPr indent="0">
              <a:buNone/>
            </a:pPr>
            <a:r>
              <a:rPr lang="ja-JP" altLang="en-US" dirty="0"/>
              <a:t>１　</a:t>
            </a:r>
            <a:r>
              <a:rPr lang="en-US" altLang="ja-JP" dirty="0"/>
              <a:t>.</a:t>
            </a:r>
            <a:r>
              <a:rPr lang="en-US" altLang="ja-JP" dirty="0" err="1"/>
              <a:t>dxf</a:t>
            </a:r>
            <a:r>
              <a:rPr lang="ja-JP" altLang="en-US" dirty="0"/>
              <a:t>ファイルを作製 </a:t>
            </a:r>
            <a:r>
              <a:rPr lang="en-US" altLang="ja-JP" dirty="0"/>
              <a:t>(Create the DXF file)</a:t>
            </a:r>
          </a:p>
        </p:txBody>
      </p:sp>
      <p:sp>
        <p:nvSpPr>
          <p:cNvPr id="4" name="コンテンツ プレースホルダー 3">
            <a:extLst>
              <a:ext uri="{FF2B5EF4-FFF2-40B4-BE49-F238E27FC236}">
                <a16:creationId xmlns:a16="http://schemas.microsoft.com/office/drawing/2014/main" id="{DA933E72-89B4-5E8D-C9A8-18E55F4555DD}"/>
              </a:ext>
            </a:extLst>
          </p:cNvPr>
          <p:cNvSpPr>
            <a:spLocks noGrp="1"/>
          </p:cNvSpPr>
          <p:nvPr>
            <p:ph sz="quarter" idx="14"/>
          </p:nvPr>
        </p:nvSpPr>
        <p:spPr>
          <a:xfrm>
            <a:off x="546100" y="974785"/>
            <a:ext cx="11099800" cy="3021861"/>
          </a:xfrm>
        </p:spPr>
        <p:txBody>
          <a:bodyPr>
            <a:normAutofit/>
          </a:bodyPr>
          <a:lstStyle/>
          <a:p>
            <a:pPr marL="0" indent="0">
              <a:buNone/>
            </a:pPr>
            <a:r>
              <a:rPr lang="en-US" altLang="ja-JP" dirty="0" err="1"/>
              <a:t>Soildworks</a:t>
            </a:r>
            <a:r>
              <a:rPr lang="ja-JP" altLang="en-US" dirty="0"/>
              <a:t>か</a:t>
            </a:r>
            <a:r>
              <a:rPr lang="en-US" altLang="ja-JP" dirty="0"/>
              <a:t>Fusion360</a:t>
            </a:r>
            <a:r>
              <a:rPr lang="ja-JP" altLang="en-US" dirty="0"/>
              <a:t>で</a:t>
            </a:r>
            <a:r>
              <a:rPr lang="en-US" altLang="ja-JP" dirty="0" err="1"/>
              <a:t>dxf</a:t>
            </a:r>
            <a:r>
              <a:rPr lang="ja-JP" altLang="en-US" dirty="0"/>
              <a:t>ファイルとして形をつくる</a:t>
            </a:r>
            <a:endParaRPr lang="en-US" altLang="ja-JP" dirty="0"/>
          </a:p>
          <a:p>
            <a:pPr marL="0" indent="0">
              <a:buNone/>
            </a:pPr>
            <a:endParaRPr kumimoji="1" lang="en-US" altLang="ja-JP" dirty="0"/>
          </a:p>
          <a:p>
            <a:pPr marL="0" indent="0">
              <a:buNone/>
            </a:pPr>
            <a:r>
              <a:rPr lang="en-US" altLang="ja-JP" dirty="0"/>
              <a:t>※</a:t>
            </a:r>
            <a:r>
              <a:rPr lang="ja-JP" altLang="en-US" dirty="0"/>
              <a:t>注意</a:t>
            </a:r>
            <a:r>
              <a:rPr lang="en-US" altLang="ja-JP" dirty="0"/>
              <a:t>※</a:t>
            </a:r>
          </a:p>
          <a:p>
            <a:pPr marL="0" indent="0">
              <a:buNone/>
            </a:pPr>
            <a:r>
              <a:rPr kumimoji="1" lang="ja-JP" altLang="en-US" dirty="0"/>
              <a:t>複数の線が重なって構成されてるとエラーが出る</a:t>
            </a:r>
            <a:br>
              <a:rPr kumimoji="1" lang="en-US" altLang="ja-JP" dirty="0"/>
            </a:br>
            <a:r>
              <a:rPr kumimoji="1" lang="en-US" altLang="ja-JP" dirty="0"/>
              <a:t>(Overlapping lines will cause an error)</a:t>
            </a:r>
          </a:p>
        </p:txBody>
      </p:sp>
      <p:cxnSp>
        <p:nvCxnSpPr>
          <p:cNvPr id="7" name="直線コネクタ 6">
            <a:extLst>
              <a:ext uri="{FF2B5EF4-FFF2-40B4-BE49-F238E27FC236}">
                <a16:creationId xmlns:a16="http://schemas.microsoft.com/office/drawing/2014/main" id="{09CB611B-FFC7-5185-585E-C031AE386CE5}"/>
              </a:ext>
            </a:extLst>
          </p:cNvPr>
          <p:cNvCxnSpPr/>
          <p:nvPr/>
        </p:nvCxnSpPr>
        <p:spPr>
          <a:xfrm>
            <a:off x="7263669" y="5676443"/>
            <a:ext cx="287712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9E3CD30D-2331-04DE-6D63-7014B380F21A}"/>
              </a:ext>
            </a:extLst>
          </p:cNvPr>
          <p:cNvSpPr txBox="1"/>
          <p:nvPr/>
        </p:nvSpPr>
        <p:spPr>
          <a:xfrm>
            <a:off x="1085849" y="4505262"/>
            <a:ext cx="381001" cy="646331"/>
          </a:xfrm>
          <a:prstGeom prst="rect">
            <a:avLst/>
          </a:prstGeom>
          <a:noFill/>
        </p:spPr>
        <p:txBody>
          <a:bodyPr wrap="square" rtlCol="0">
            <a:spAutoFit/>
          </a:bodyPr>
          <a:lstStyle/>
          <a:p>
            <a:r>
              <a:rPr kumimoji="1" lang="ja-JP" altLang="en-US" sz="3600" dirty="0">
                <a:solidFill>
                  <a:srgbClr val="FF0000"/>
                </a:solidFill>
              </a:rPr>
              <a:t>〇</a:t>
            </a:r>
          </a:p>
        </p:txBody>
      </p:sp>
      <p:sp>
        <p:nvSpPr>
          <p:cNvPr id="9" name="テキスト ボックス 8">
            <a:extLst>
              <a:ext uri="{FF2B5EF4-FFF2-40B4-BE49-F238E27FC236}">
                <a16:creationId xmlns:a16="http://schemas.microsoft.com/office/drawing/2014/main" id="{1229F801-C279-3E92-708F-3E6C32E55F9F}"/>
              </a:ext>
            </a:extLst>
          </p:cNvPr>
          <p:cNvSpPr txBox="1"/>
          <p:nvPr/>
        </p:nvSpPr>
        <p:spPr>
          <a:xfrm>
            <a:off x="6096000" y="4505261"/>
            <a:ext cx="381000" cy="646331"/>
          </a:xfrm>
          <a:prstGeom prst="rect">
            <a:avLst/>
          </a:prstGeom>
          <a:noFill/>
        </p:spPr>
        <p:txBody>
          <a:bodyPr wrap="square" rtlCol="0">
            <a:spAutoFit/>
          </a:bodyPr>
          <a:lstStyle/>
          <a:p>
            <a:r>
              <a:rPr kumimoji="1" lang="ja-JP" altLang="en-US" sz="3600" dirty="0">
                <a:solidFill>
                  <a:schemeClr val="accent1"/>
                </a:solidFill>
              </a:rPr>
              <a:t>✕</a:t>
            </a:r>
          </a:p>
        </p:txBody>
      </p:sp>
      <mc:AlternateContent xmlns:mc="http://schemas.openxmlformats.org/markup-compatibility/2006" xmlns:p14="http://schemas.microsoft.com/office/powerpoint/2010/main">
        <mc:Choice Requires="p14">
          <p:contentPart p14:bwMode="auto" r:id="rId2">
            <p14:nvContentPartPr>
              <p14:cNvPr id="14" name="インク 13">
                <a:extLst>
                  <a:ext uri="{FF2B5EF4-FFF2-40B4-BE49-F238E27FC236}">
                    <a16:creationId xmlns:a16="http://schemas.microsoft.com/office/drawing/2014/main" id="{E9307B97-A82A-346E-E35A-F407A0B6F20C}"/>
                  </a:ext>
                </a:extLst>
              </p14:cNvPr>
              <p14:cNvContentPartPr/>
              <p14:nvPr/>
            </p14:nvContentPartPr>
            <p14:xfrm>
              <a:off x="7294710" y="5393566"/>
              <a:ext cx="178200" cy="215280"/>
            </p14:xfrm>
          </p:contentPart>
        </mc:Choice>
        <mc:Fallback xmlns="">
          <p:pic>
            <p:nvPicPr>
              <p:cNvPr id="14" name="インク 13">
                <a:extLst>
                  <a:ext uri="{FF2B5EF4-FFF2-40B4-BE49-F238E27FC236}">
                    <a16:creationId xmlns:a16="http://schemas.microsoft.com/office/drawing/2014/main" id="{E9307B97-A82A-346E-E35A-F407A0B6F20C}"/>
                  </a:ext>
                </a:extLst>
              </p:cNvPr>
              <p:cNvPicPr/>
              <p:nvPr/>
            </p:nvPicPr>
            <p:blipFill>
              <a:blip r:embed="rId3"/>
              <a:stretch>
                <a:fillRect/>
              </a:stretch>
            </p:blipFill>
            <p:spPr>
              <a:xfrm>
                <a:off x="7276710" y="5375566"/>
                <a:ext cx="213840" cy="250920"/>
              </a:xfrm>
              <a:prstGeom prst="rect">
                <a:avLst/>
              </a:prstGeom>
            </p:spPr>
          </p:pic>
        </mc:Fallback>
      </mc:AlternateContent>
      <p:sp>
        <p:nvSpPr>
          <p:cNvPr id="16" name="テキスト ボックス 15">
            <a:extLst>
              <a:ext uri="{FF2B5EF4-FFF2-40B4-BE49-F238E27FC236}">
                <a16:creationId xmlns:a16="http://schemas.microsoft.com/office/drawing/2014/main" id="{6E857536-4E92-5DE2-1E46-4462B00C7925}"/>
              </a:ext>
            </a:extLst>
          </p:cNvPr>
          <p:cNvSpPr txBox="1"/>
          <p:nvPr/>
        </p:nvSpPr>
        <p:spPr>
          <a:xfrm>
            <a:off x="7449681" y="5065926"/>
            <a:ext cx="1870826" cy="369332"/>
          </a:xfrm>
          <a:prstGeom prst="rect">
            <a:avLst/>
          </a:prstGeom>
          <a:noFill/>
        </p:spPr>
        <p:txBody>
          <a:bodyPr wrap="square" rtlCol="0">
            <a:spAutoFit/>
          </a:bodyPr>
          <a:lstStyle/>
          <a:p>
            <a:r>
              <a:rPr kumimoji="1" lang="ja-JP" altLang="en-US" dirty="0"/>
              <a:t>線が重なってる</a:t>
            </a:r>
          </a:p>
        </p:txBody>
      </p:sp>
      <p:cxnSp>
        <p:nvCxnSpPr>
          <p:cNvPr id="10" name="直線コネクタ 9">
            <a:extLst>
              <a:ext uri="{FF2B5EF4-FFF2-40B4-BE49-F238E27FC236}">
                <a16:creationId xmlns:a16="http://schemas.microsoft.com/office/drawing/2014/main" id="{1EBFE777-B63D-E7D4-8947-EBFE43D92830}"/>
              </a:ext>
            </a:extLst>
          </p:cNvPr>
          <p:cNvCxnSpPr/>
          <p:nvPr/>
        </p:nvCxnSpPr>
        <p:spPr>
          <a:xfrm>
            <a:off x="1735436" y="5712803"/>
            <a:ext cx="2604654"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90C46838-56C6-57CA-E6F7-F4D941227452}"/>
              </a:ext>
            </a:extLst>
          </p:cNvPr>
          <p:cNvCxnSpPr/>
          <p:nvPr/>
        </p:nvCxnSpPr>
        <p:spPr>
          <a:xfrm>
            <a:off x="6715853" y="5735105"/>
            <a:ext cx="2604654" cy="0"/>
          </a:xfrm>
          <a:prstGeom prst="line">
            <a:avLst/>
          </a:prstGeom>
          <a:ln w="571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2" name="インク 11">
                <a:extLst>
                  <a:ext uri="{FF2B5EF4-FFF2-40B4-BE49-F238E27FC236}">
                    <a16:creationId xmlns:a16="http://schemas.microsoft.com/office/drawing/2014/main" id="{B160BF55-E5E6-62D5-952E-7148DFFE413F}"/>
                  </a:ext>
                </a:extLst>
              </p14:cNvPr>
              <p14:cNvContentPartPr/>
              <p14:nvPr/>
            </p14:nvContentPartPr>
            <p14:xfrm rot="5873711">
              <a:off x="9112548" y="5393565"/>
              <a:ext cx="178200" cy="215280"/>
            </p14:xfrm>
          </p:contentPart>
        </mc:Choice>
        <mc:Fallback xmlns="">
          <p:pic>
            <p:nvPicPr>
              <p:cNvPr id="12" name="インク 11">
                <a:extLst>
                  <a:ext uri="{FF2B5EF4-FFF2-40B4-BE49-F238E27FC236}">
                    <a16:creationId xmlns:a16="http://schemas.microsoft.com/office/drawing/2014/main" id="{B160BF55-E5E6-62D5-952E-7148DFFE413F}"/>
                  </a:ext>
                </a:extLst>
              </p:cNvPr>
              <p:cNvPicPr/>
              <p:nvPr/>
            </p:nvPicPr>
            <p:blipFill>
              <a:blip r:embed="rId3"/>
              <a:stretch>
                <a:fillRect/>
              </a:stretch>
            </p:blipFill>
            <p:spPr>
              <a:xfrm rot="5873711">
                <a:off x="9094548" y="5375565"/>
                <a:ext cx="213840" cy="250920"/>
              </a:xfrm>
              <a:prstGeom prst="rect">
                <a:avLst/>
              </a:prstGeom>
            </p:spPr>
          </p:pic>
        </mc:Fallback>
      </mc:AlternateContent>
    </p:spTree>
    <p:extLst>
      <p:ext uri="{BB962C8B-B14F-4D97-AF65-F5344CB8AC3E}">
        <p14:creationId xmlns:p14="http://schemas.microsoft.com/office/powerpoint/2010/main" val="2426403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729E15C-3F01-4434-F121-88418AE19C7F}"/>
              </a:ext>
            </a:extLst>
          </p:cNvPr>
          <p:cNvSpPr>
            <a:spLocks noGrp="1"/>
          </p:cNvSpPr>
          <p:nvPr>
            <p:ph sz="quarter" idx="12"/>
          </p:nvPr>
        </p:nvSpPr>
        <p:spPr/>
        <p:txBody>
          <a:bodyPr/>
          <a:lstStyle/>
          <a:p>
            <a:pPr indent="0">
              <a:buNone/>
            </a:pPr>
            <a:r>
              <a:rPr lang="ja-JP" altLang="en-US" dirty="0"/>
              <a:t>２　</a:t>
            </a:r>
            <a:r>
              <a:rPr kumimoji="1" lang="ja-JP" altLang="en-US" dirty="0"/>
              <a:t>配線を確認 </a:t>
            </a:r>
            <a:r>
              <a:rPr kumimoji="1" lang="en-US" altLang="ja-JP" dirty="0"/>
              <a:t>(</a:t>
            </a:r>
            <a:r>
              <a:rPr lang="ja-JP" altLang="ja-JP" dirty="0"/>
              <a:t>Check the wiring</a:t>
            </a:r>
            <a:r>
              <a:rPr kumimoji="1" lang="en-US" altLang="ja-JP" dirty="0"/>
              <a:t>)</a:t>
            </a:r>
            <a:endParaRPr kumimoji="1" lang="ja-JP" altLang="en-US" dirty="0"/>
          </a:p>
        </p:txBody>
      </p:sp>
      <p:pic>
        <p:nvPicPr>
          <p:cNvPr id="6" name="コンテンツ プレースホルダー 5">
            <a:extLst>
              <a:ext uri="{FF2B5EF4-FFF2-40B4-BE49-F238E27FC236}">
                <a16:creationId xmlns:a16="http://schemas.microsoft.com/office/drawing/2014/main" id="{2450A3D1-0773-6205-F658-4A8E6AB52A4E}"/>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rcRect t="19081" b="16200"/>
          <a:stretch>
            <a:fillRect/>
          </a:stretch>
        </p:blipFill>
        <p:spPr>
          <a:xfrm>
            <a:off x="8310510" y="1050628"/>
            <a:ext cx="2857500" cy="2465798"/>
          </a:xfrm>
          <a:prstGeom prst="rect">
            <a:avLst/>
          </a:prstGeom>
        </p:spPr>
      </p:pic>
      <p:pic>
        <p:nvPicPr>
          <p:cNvPr id="8" name="図 7">
            <a:extLst>
              <a:ext uri="{FF2B5EF4-FFF2-40B4-BE49-F238E27FC236}">
                <a16:creationId xmlns:a16="http://schemas.microsoft.com/office/drawing/2014/main" id="{F4A4C0DB-2114-6E12-C46B-6C25DA7BCA71}"/>
              </a:ext>
            </a:extLst>
          </p:cNvPr>
          <p:cNvPicPr>
            <a:picLocks noChangeAspect="1"/>
          </p:cNvPicPr>
          <p:nvPr/>
        </p:nvPicPr>
        <p:blipFill>
          <a:blip r:embed="rId3" cstate="print">
            <a:extLst>
              <a:ext uri="{28A0092B-C50C-407E-A947-70E740481C1C}">
                <a14:useLocalDpi xmlns:a14="http://schemas.microsoft.com/office/drawing/2010/main" val="0"/>
              </a:ext>
            </a:extLst>
          </a:blip>
          <a:srcRect t="12094" b="12059"/>
          <a:stretch>
            <a:fillRect/>
          </a:stretch>
        </p:blipFill>
        <p:spPr>
          <a:xfrm>
            <a:off x="8310510" y="4325686"/>
            <a:ext cx="2009313" cy="2032000"/>
          </a:xfrm>
          <a:prstGeom prst="rect">
            <a:avLst/>
          </a:prstGeom>
        </p:spPr>
      </p:pic>
      <p:sp>
        <p:nvSpPr>
          <p:cNvPr id="9" name="テキスト ボックス 8">
            <a:extLst>
              <a:ext uri="{FF2B5EF4-FFF2-40B4-BE49-F238E27FC236}">
                <a16:creationId xmlns:a16="http://schemas.microsoft.com/office/drawing/2014/main" id="{C1827E00-DD7B-7910-5E89-AB5D25CE74C4}"/>
              </a:ext>
            </a:extLst>
          </p:cNvPr>
          <p:cNvSpPr txBox="1"/>
          <p:nvPr/>
        </p:nvSpPr>
        <p:spPr>
          <a:xfrm>
            <a:off x="223024" y="1009880"/>
            <a:ext cx="8087485" cy="4154984"/>
          </a:xfrm>
          <a:prstGeom prst="rect">
            <a:avLst/>
          </a:prstGeom>
          <a:noFill/>
        </p:spPr>
        <p:txBody>
          <a:bodyPr wrap="square" rtlCol="0">
            <a:spAutoFit/>
          </a:bodyPr>
          <a:lstStyle/>
          <a:p>
            <a:r>
              <a:rPr kumimoji="1" lang="ja-JP" altLang="en-US" sz="2400" dirty="0"/>
              <a:t>・コンセントに以下のものが差さっているか</a:t>
            </a:r>
            <a:br>
              <a:rPr lang="en-US" altLang="ja-JP" sz="2400" dirty="0"/>
            </a:br>
            <a:r>
              <a:rPr lang="en-US" altLang="ja-JP" sz="2400" dirty="0"/>
              <a:t>(Check if the following are plugged into the outlet:)</a:t>
            </a:r>
            <a:endParaRPr kumimoji="1" lang="en-US" altLang="ja-JP" sz="2400" dirty="0"/>
          </a:p>
          <a:p>
            <a:r>
              <a:rPr lang="ja-JP" altLang="en-US" sz="2400" dirty="0"/>
              <a:t>①</a:t>
            </a:r>
            <a:r>
              <a:rPr lang="en-US" altLang="ja-JP" sz="2400" dirty="0"/>
              <a:t>24V</a:t>
            </a:r>
            <a:r>
              <a:rPr lang="ja-JP" altLang="en-US" sz="2400" dirty="0"/>
              <a:t>電源</a:t>
            </a:r>
            <a:endParaRPr lang="en-US" altLang="ja-JP" sz="2400" dirty="0"/>
          </a:p>
          <a:p>
            <a:r>
              <a:rPr lang="ja-JP" altLang="en-US" sz="2400" dirty="0"/>
              <a:t>②超音波溶着（本体後ろの電源を</a:t>
            </a:r>
            <a:r>
              <a:rPr lang="en-US" altLang="ja-JP" sz="2400" dirty="0"/>
              <a:t>ON</a:t>
            </a:r>
            <a:r>
              <a:rPr lang="ja-JP" altLang="en-US" sz="2400" dirty="0"/>
              <a:t>に）</a:t>
            </a:r>
            <a:endParaRPr lang="en-US" altLang="ja-JP" sz="2400" dirty="0"/>
          </a:p>
          <a:p>
            <a:r>
              <a:rPr lang="ja-JP" altLang="en-US" sz="2400" dirty="0"/>
              <a:t>③</a:t>
            </a:r>
            <a:r>
              <a:rPr lang="en-US" altLang="ja-JP" sz="2400" dirty="0" err="1"/>
              <a:t>Dynamixel</a:t>
            </a:r>
            <a:endParaRPr lang="en-US" altLang="ja-JP" sz="2400" dirty="0"/>
          </a:p>
          <a:p>
            <a:endParaRPr kumimoji="1" lang="en-US" altLang="ja-JP" sz="2400" dirty="0"/>
          </a:p>
          <a:p>
            <a:r>
              <a:rPr lang="ja-JP" altLang="en-US" sz="2400" dirty="0"/>
              <a:t>・パソコンと入出力ターミナルがつながってるか</a:t>
            </a:r>
            <a:endParaRPr lang="en-US" altLang="ja-JP" sz="2400" dirty="0"/>
          </a:p>
          <a:p>
            <a:r>
              <a:rPr kumimoji="1" lang="en-US" altLang="ja-JP" sz="2400" dirty="0"/>
              <a:t>(Check if the PC and the I/O terminal are connected)</a:t>
            </a:r>
          </a:p>
          <a:p>
            <a:r>
              <a:rPr kumimoji="1" lang="ja-JP" altLang="en-US" sz="2400" dirty="0"/>
              <a:t>・非常停止ボタンが押されたままになってないか</a:t>
            </a:r>
            <a:br>
              <a:rPr kumimoji="1" lang="en-US" altLang="ja-JP" sz="2400" dirty="0"/>
            </a:br>
            <a:r>
              <a:rPr kumimoji="1" lang="en-US" altLang="ja-JP" sz="2400" dirty="0"/>
              <a:t>(Make sure the emergency stop button is not kept pressed down.)</a:t>
            </a:r>
            <a:endParaRPr kumimoji="1" lang="ja-JP" altLang="en-US" sz="2400" dirty="0"/>
          </a:p>
        </p:txBody>
      </p:sp>
      <p:sp>
        <p:nvSpPr>
          <p:cNvPr id="10" name="テキスト ボックス 9">
            <a:extLst>
              <a:ext uri="{FF2B5EF4-FFF2-40B4-BE49-F238E27FC236}">
                <a16:creationId xmlns:a16="http://schemas.microsoft.com/office/drawing/2014/main" id="{0B72BB9E-A845-5A5B-4EE4-3DA4954159E9}"/>
              </a:ext>
            </a:extLst>
          </p:cNvPr>
          <p:cNvSpPr txBox="1"/>
          <p:nvPr/>
        </p:nvSpPr>
        <p:spPr>
          <a:xfrm>
            <a:off x="8026401" y="3598481"/>
            <a:ext cx="4110946" cy="369332"/>
          </a:xfrm>
          <a:prstGeom prst="rect">
            <a:avLst/>
          </a:prstGeom>
          <a:noFill/>
        </p:spPr>
        <p:txBody>
          <a:bodyPr wrap="square" rtlCol="0">
            <a:spAutoFit/>
          </a:bodyPr>
          <a:lstStyle/>
          <a:p>
            <a:r>
              <a:rPr lang="ja-JP" altLang="en-US" dirty="0"/>
              <a:t>下二つのプラグはパソコンとモニター</a:t>
            </a:r>
            <a:endParaRPr kumimoji="1" lang="ja-JP" altLang="en-US" dirty="0"/>
          </a:p>
        </p:txBody>
      </p:sp>
      <p:pic>
        <p:nvPicPr>
          <p:cNvPr id="4" name="図 3">
            <a:extLst>
              <a:ext uri="{FF2B5EF4-FFF2-40B4-BE49-F238E27FC236}">
                <a16:creationId xmlns:a16="http://schemas.microsoft.com/office/drawing/2014/main" id="{B9277414-473A-546E-ECC5-0632A955B9A1}"/>
              </a:ext>
            </a:extLst>
          </p:cNvPr>
          <p:cNvPicPr>
            <a:picLocks noChangeAspect="1"/>
          </p:cNvPicPr>
          <p:nvPr/>
        </p:nvPicPr>
        <p:blipFill>
          <a:blip r:embed="rId4"/>
          <a:stretch>
            <a:fillRect/>
          </a:stretch>
        </p:blipFill>
        <p:spPr>
          <a:xfrm>
            <a:off x="3420532" y="4888387"/>
            <a:ext cx="2039285" cy="1469299"/>
          </a:xfrm>
          <a:prstGeom prst="rect">
            <a:avLst/>
          </a:prstGeom>
        </p:spPr>
      </p:pic>
      <p:sp>
        <p:nvSpPr>
          <p:cNvPr id="5" name="テキスト ボックス 4">
            <a:extLst>
              <a:ext uri="{FF2B5EF4-FFF2-40B4-BE49-F238E27FC236}">
                <a16:creationId xmlns:a16="http://schemas.microsoft.com/office/drawing/2014/main" id="{82A2E9EE-58AD-652E-6941-AE5A86B2166D}"/>
              </a:ext>
            </a:extLst>
          </p:cNvPr>
          <p:cNvSpPr txBox="1"/>
          <p:nvPr/>
        </p:nvSpPr>
        <p:spPr>
          <a:xfrm>
            <a:off x="3420532" y="6357686"/>
            <a:ext cx="3412067" cy="369332"/>
          </a:xfrm>
          <a:prstGeom prst="rect">
            <a:avLst/>
          </a:prstGeom>
          <a:noFill/>
        </p:spPr>
        <p:txBody>
          <a:bodyPr wrap="square" rtlCol="0">
            <a:spAutoFit/>
          </a:bodyPr>
          <a:lstStyle/>
          <a:p>
            <a:r>
              <a:rPr kumimoji="1" lang="ja-JP" altLang="en-US" dirty="0"/>
              <a:t>入出力ターミナル</a:t>
            </a:r>
          </a:p>
        </p:txBody>
      </p:sp>
      <p:sp>
        <p:nvSpPr>
          <p:cNvPr id="7" name="テキスト ボックス 6">
            <a:extLst>
              <a:ext uri="{FF2B5EF4-FFF2-40B4-BE49-F238E27FC236}">
                <a16:creationId xmlns:a16="http://schemas.microsoft.com/office/drawing/2014/main" id="{36A90635-1D76-0093-433C-2A1C5454A503}"/>
              </a:ext>
            </a:extLst>
          </p:cNvPr>
          <p:cNvSpPr txBox="1"/>
          <p:nvPr/>
        </p:nvSpPr>
        <p:spPr>
          <a:xfrm>
            <a:off x="7509932" y="6388396"/>
            <a:ext cx="4275668" cy="369332"/>
          </a:xfrm>
          <a:prstGeom prst="rect">
            <a:avLst/>
          </a:prstGeom>
          <a:noFill/>
        </p:spPr>
        <p:txBody>
          <a:bodyPr wrap="square" rtlCol="0">
            <a:spAutoFit/>
          </a:bodyPr>
          <a:lstStyle/>
          <a:p>
            <a:r>
              <a:rPr kumimoji="1" lang="ja-JP" altLang="en-US" dirty="0"/>
              <a:t>押すとオン，赤いところを回すとオフ</a:t>
            </a:r>
          </a:p>
        </p:txBody>
      </p:sp>
    </p:spTree>
    <p:extLst>
      <p:ext uri="{BB962C8B-B14F-4D97-AF65-F5344CB8AC3E}">
        <p14:creationId xmlns:p14="http://schemas.microsoft.com/office/powerpoint/2010/main" val="1924152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8A95268-79CC-8909-B5C0-D855E4526C8F}"/>
              </a:ext>
            </a:extLst>
          </p:cNvPr>
          <p:cNvSpPr>
            <a:spLocks noGrp="1"/>
          </p:cNvSpPr>
          <p:nvPr>
            <p:ph sz="quarter" idx="12"/>
          </p:nvPr>
        </p:nvSpPr>
        <p:spPr/>
        <p:txBody>
          <a:bodyPr/>
          <a:lstStyle/>
          <a:p>
            <a:pPr indent="0">
              <a:buNone/>
            </a:pPr>
            <a:r>
              <a:rPr kumimoji="1" lang="ja-JP" altLang="en-US" dirty="0"/>
              <a:t>２　溶着用プログラムを起動 </a:t>
            </a:r>
            <a:r>
              <a:rPr kumimoji="1" lang="en-US" altLang="ja-JP" dirty="0"/>
              <a:t>(Launch the welding program)</a:t>
            </a:r>
            <a:endParaRPr kumimoji="1" lang="ja-JP" altLang="en-US" dirty="0"/>
          </a:p>
        </p:txBody>
      </p:sp>
      <p:pic>
        <p:nvPicPr>
          <p:cNvPr id="11" name="図 10">
            <a:extLst>
              <a:ext uri="{FF2B5EF4-FFF2-40B4-BE49-F238E27FC236}">
                <a16:creationId xmlns:a16="http://schemas.microsoft.com/office/drawing/2014/main" id="{CD68EC9C-1A8C-497B-B707-FEC1D22A18DE}"/>
              </a:ext>
            </a:extLst>
          </p:cNvPr>
          <p:cNvPicPr>
            <a:picLocks noChangeAspect="1"/>
          </p:cNvPicPr>
          <p:nvPr/>
        </p:nvPicPr>
        <p:blipFill>
          <a:blip r:embed="rId2"/>
          <a:stretch>
            <a:fillRect/>
          </a:stretch>
        </p:blipFill>
        <p:spPr>
          <a:xfrm>
            <a:off x="6928171" y="1183763"/>
            <a:ext cx="4324954" cy="2381582"/>
          </a:xfrm>
          <a:prstGeom prst="rect">
            <a:avLst/>
          </a:prstGeom>
        </p:spPr>
      </p:pic>
      <p:sp>
        <p:nvSpPr>
          <p:cNvPr id="15" name="コンテンツ プレースホルダー 3">
            <a:extLst>
              <a:ext uri="{FF2B5EF4-FFF2-40B4-BE49-F238E27FC236}">
                <a16:creationId xmlns:a16="http://schemas.microsoft.com/office/drawing/2014/main" id="{44D6D38D-4944-1C24-216E-993044D50F16}"/>
              </a:ext>
            </a:extLst>
          </p:cNvPr>
          <p:cNvSpPr txBox="1">
            <a:spLocks/>
          </p:cNvSpPr>
          <p:nvPr/>
        </p:nvSpPr>
        <p:spPr>
          <a:xfrm>
            <a:off x="169553" y="3917574"/>
            <a:ext cx="9205791" cy="8873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2400" dirty="0" err="1"/>
              <a:t>Pycharm</a:t>
            </a:r>
            <a:r>
              <a:rPr lang="ja-JP" altLang="en-US" sz="2400" dirty="0"/>
              <a:t>を起動し</a:t>
            </a:r>
            <a:r>
              <a:rPr lang="en-US" altLang="ja-JP" sz="2400" dirty="0" err="1"/>
              <a:t>AutomaticStage</a:t>
            </a:r>
            <a:r>
              <a:rPr lang="ja-JP" altLang="en-US" sz="2400" dirty="0"/>
              <a:t>というプロジェクトを開く</a:t>
            </a:r>
            <a:br>
              <a:rPr lang="en-US" altLang="ja-JP" sz="2400" dirty="0"/>
            </a:br>
            <a:r>
              <a:rPr lang="en-US" altLang="ja-JP" sz="2400" dirty="0"/>
              <a:t>(Launch PyCharm and open the "</a:t>
            </a:r>
            <a:r>
              <a:rPr lang="en-US" altLang="ja-JP" sz="2400" dirty="0" err="1"/>
              <a:t>AutomaticStage</a:t>
            </a:r>
            <a:r>
              <a:rPr lang="en-US" altLang="ja-JP" sz="2400" dirty="0"/>
              <a:t>" project)</a:t>
            </a:r>
            <a:endParaRPr lang="ja-JP" altLang="en-US" sz="2400" dirty="0"/>
          </a:p>
        </p:txBody>
      </p:sp>
      <p:sp>
        <p:nvSpPr>
          <p:cNvPr id="21" name="楕円 20">
            <a:extLst>
              <a:ext uri="{FF2B5EF4-FFF2-40B4-BE49-F238E27FC236}">
                <a16:creationId xmlns:a16="http://schemas.microsoft.com/office/drawing/2014/main" id="{C4177F3F-4613-A62A-2B16-8158F5612E1C}"/>
              </a:ext>
            </a:extLst>
          </p:cNvPr>
          <p:cNvSpPr/>
          <p:nvPr/>
        </p:nvSpPr>
        <p:spPr>
          <a:xfrm>
            <a:off x="7679356" y="1182491"/>
            <a:ext cx="1512769" cy="44757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4341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49682F1-EF6B-2AC7-241A-C7DD91D52D34}"/>
              </a:ext>
            </a:extLst>
          </p:cNvPr>
          <p:cNvSpPr>
            <a:spLocks noGrp="1"/>
          </p:cNvSpPr>
          <p:nvPr>
            <p:ph sz="quarter" idx="12"/>
          </p:nvPr>
        </p:nvSpPr>
        <p:spPr/>
        <p:txBody>
          <a:bodyPr/>
          <a:lstStyle/>
          <a:p>
            <a:pPr indent="0">
              <a:buNone/>
            </a:pPr>
            <a:r>
              <a:rPr lang="ja-JP" altLang="en-US" dirty="0"/>
              <a:t>２　溶着用プログラムを起動 </a:t>
            </a:r>
            <a:r>
              <a:rPr lang="en-US" altLang="ja-JP" dirty="0"/>
              <a:t>(Launch the welding program)</a:t>
            </a:r>
            <a:endParaRPr lang="ja-JP" altLang="en-US" dirty="0"/>
          </a:p>
        </p:txBody>
      </p:sp>
      <p:sp>
        <p:nvSpPr>
          <p:cNvPr id="4" name="コンテンツ プレースホルダー 3">
            <a:extLst>
              <a:ext uri="{FF2B5EF4-FFF2-40B4-BE49-F238E27FC236}">
                <a16:creationId xmlns:a16="http://schemas.microsoft.com/office/drawing/2014/main" id="{1E1C2CB5-8389-349F-5731-571C9123F03A}"/>
              </a:ext>
            </a:extLst>
          </p:cNvPr>
          <p:cNvSpPr>
            <a:spLocks noGrp="1"/>
          </p:cNvSpPr>
          <p:nvPr>
            <p:ph sz="quarter" idx="14"/>
          </p:nvPr>
        </p:nvSpPr>
        <p:spPr/>
        <p:txBody>
          <a:bodyPr/>
          <a:lstStyle/>
          <a:p>
            <a:pPr marL="0" indent="0">
              <a:buNone/>
            </a:pPr>
            <a:r>
              <a:rPr lang="en-US" altLang="ja-JP" dirty="0" err="1"/>
              <a:t>m</a:t>
            </a:r>
            <a:r>
              <a:rPr kumimoji="1" lang="en-US" altLang="ja-JP" dirty="0" err="1"/>
              <a:t>ain_app</a:t>
            </a:r>
            <a:r>
              <a:rPr kumimoji="1" lang="ja-JP" altLang="en-US" dirty="0"/>
              <a:t>を実行</a:t>
            </a:r>
            <a:br>
              <a:rPr lang="en-US" altLang="ja-JP" dirty="0"/>
            </a:br>
            <a:r>
              <a:rPr lang="en-US" altLang="ja-JP" dirty="0"/>
              <a:t>(Run </a:t>
            </a:r>
            <a:r>
              <a:rPr lang="en-US" altLang="ja-JP" dirty="0" err="1"/>
              <a:t>main_app</a:t>
            </a:r>
            <a:r>
              <a:rPr lang="en-US" altLang="ja-JP" dirty="0"/>
              <a:t>)</a:t>
            </a:r>
            <a:endParaRPr kumimoji="1" lang="ja-JP" altLang="en-US" dirty="0"/>
          </a:p>
        </p:txBody>
      </p:sp>
      <p:pic>
        <p:nvPicPr>
          <p:cNvPr id="6" name="図 5">
            <a:extLst>
              <a:ext uri="{FF2B5EF4-FFF2-40B4-BE49-F238E27FC236}">
                <a16:creationId xmlns:a16="http://schemas.microsoft.com/office/drawing/2014/main" id="{7F35657F-C064-1F03-90AE-533E5C6B0E8D}"/>
              </a:ext>
            </a:extLst>
          </p:cNvPr>
          <p:cNvPicPr>
            <a:picLocks noChangeAspect="1"/>
          </p:cNvPicPr>
          <p:nvPr/>
        </p:nvPicPr>
        <p:blipFill>
          <a:blip r:embed="rId3"/>
          <a:stretch>
            <a:fillRect/>
          </a:stretch>
        </p:blipFill>
        <p:spPr>
          <a:xfrm>
            <a:off x="6096000" y="974785"/>
            <a:ext cx="4639322" cy="5553850"/>
          </a:xfrm>
          <a:prstGeom prst="rect">
            <a:avLst/>
          </a:prstGeom>
        </p:spPr>
      </p:pic>
    </p:spTree>
    <p:extLst>
      <p:ext uri="{BB962C8B-B14F-4D97-AF65-F5344CB8AC3E}">
        <p14:creationId xmlns:p14="http://schemas.microsoft.com/office/powerpoint/2010/main" val="95539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01B2BE7-1B97-F211-90B9-3F278EFBCDF3}"/>
              </a:ext>
            </a:extLst>
          </p:cNvPr>
          <p:cNvSpPr>
            <a:spLocks noGrp="1"/>
          </p:cNvSpPr>
          <p:nvPr>
            <p:ph sz="quarter" idx="12"/>
          </p:nvPr>
        </p:nvSpPr>
        <p:spPr/>
        <p:txBody>
          <a:bodyPr/>
          <a:lstStyle/>
          <a:p>
            <a:pPr indent="0">
              <a:buNone/>
            </a:pPr>
            <a:r>
              <a:rPr lang="ja-JP" altLang="en-US" dirty="0"/>
              <a:t>３　手動操作画面</a:t>
            </a:r>
            <a:endParaRPr kumimoji="1" lang="ja-JP" altLang="en-US" dirty="0"/>
          </a:p>
        </p:txBody>
      </p:sp>
      <p:pic>
        <p:nvPicPr>
          <p:cNvPr id="6" name="図 5">
            <a:extLst>
              <a:ext uri="{FF2B5EF4-FFF2-40B4-BE49-F238E27FC236}">
                <a16:creationId xmlns:a16="http://schemas.microsoft.com/office/drawing/2014/main" id="{F3AFA806-5C5F-3DA7-B754-EB7DEB441C7F}"/>
              </a:ext>
            </a:extLst>
          </p:cNvPr>
          <p:cNvPicPr>
            <a:picLocks noChangeAspect="1"/>
          </p:cNvPicPr>
          <p:nvPr/>
        </p:nvPicPr>
        <p:blipFill>
          <a:blip r:embed="rId2"/>
          <a:stretch>
            <a:fillRect/>
          </a:stretch>
        </p:blipFill>
        <p:spPr>
          <a:xfrm>
            <a:off x="3894083" y="1047606"/>
            <a:ext cx="7952811" cy="5810394"/>
          </a:xfrm>
          <a:prstGeom prst="rect">
            <a:avLst/>
          </a:prstGeom>
        </p:spPr>
      </p:pic>
      <p:cxnSp>
        <p:nvCxnSpPr>
          <p:cNvPr id="7" name="直線矢印コネクタ 6">
            <a:extLst>
              <a:ext uri="{FF2B5EF4-FFF2-40B4-BE49-F238E27FC236}">
                <a16:creationId xmlns:a16="http://schemas.microsoft.com/office/drawing/2014/main" id="{F5432078-0104-7921-E8E3-6A2819A839A5}"/>
              </a:ext>
            </a:extLst>
          </p:cNvPr>
          <p:cNvCxnSpPr>
            <a:cxnSpLocks/>
          </p:cNvCxnSpPr>
          <p:nvPr/>
        </p:nvCxnSpPr>
        <p:spPr>
          <a:xfrm flipV="1">
            <a:off x="4174865" y="1872597"/>
            <a:ext cx="155139" cy="6601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1C9CBE5-B220-AC27-46AA-AFE977208BA2}"/>
              </a:ext>
            </a:extLst>
          </p:cNvPr>
          <p:cNvSpPr txBox="1"/>
          <p:nvPr/>
        </p:nvSpPr>
        <p:spPr>
          <a:xfrm>
            <a:off x="3607085" y="2602531"/>
            <a:ext cx="4840487" cy="2308324"/>
          </a:xfrm>
          <a:prstGeom prst="rect">
            <a:avLst/>
          </a:prstGeom>
          <a:noFill/>
        </p:spPr>
        <p:txBody>
          <a:bodyPr wrap="square" rtlCol="0">
            <a:spAutoFit/>
          </a:bodyPr>
          <a:lstStyle/>
          <a:p>
            <a:r>
              <a:rPr kumimoji="1" lang="ja-JP" altLang="en-US" dirty="0">
                <a:effectLst>
                  <a:glow rad="254000">
                    <a:schemeClr val="bg1">
                      <a:alpha val="90000"/>
                    </a:schemeClr>
                  </a:glow>
                </a:effectLst>
              </a:rPr>
              <a:t>フットペダルで超音波溶着をオンオフできる</a:t>
            </a:r>
            <a:endParaRPr kumimoji="1" lang="en-US" altLang="ja-JP" dirty="0">
              <a:effectLst>
                <a:glow rad="254000">
                  <a:schemeClr val="bg1">
                    <a:alpha val="90000"/>
                  </a:schemeClr>
                </a:glow>
              </a:effectLst>
            </a:endParaRPr>
          </a:p>
          <a:p>
            <a:r>
              <a:rPr kumimoji="1" lang="ja-JP" altLang="en-US" dirty="0">
                <a:effectLst>
                  <a:glow rad="254000">
                    <a:schemeClr val="bg1">
                      <a:alpha val="90000"/>
                    </a:schemeClr>
                  </a:glow>
                </a:effectLst>
              </a:rPr>
              <a:t>溶着機を手で持って手動で溶着するときのみ使う</a:t>
            </a:r>
            <a:endParaRPr kumimoji="1" lang="en-US" altLang="ja-JP" dirty="0">
              <a:effectLst>
                <a:glow rad="254000">
                  <a:schemeClr val="bg1">
                    <a:alpha val="90000"/>
                  </a:schemeClr>
                </a:glow>
              </a:effectLst>
            </a:endParaRPr>
          </a:p>
          <a:p>
            <a:r>
              <a:rPr kumimoji="1" lang="en-US" altLang="ja-JP" dirty="0">
                <a:effectLst>
                  <a:glow rad="254000">
                    <a:schemeClr val="bg1">
                      <a:alpha val="90000"/>
                    </a:schemeClr>
                  </a:glow>
                </a:effectLst>
              </a:rPr>
              <a:t>Ultrasonic welding can be turned on and off using the foot pedal. Use this only when performing manual welding while holding the welder by hand.</a:t>
            </a:r>
          </a:p>
          <a:p>
            <a:endParaRPr kumimoji="1" lang="ja-JP" altLang="en-US" dirty="0">
              <a:effectLst>
                <a:glow rad="254000">
                  <a:schemeClr val="bg1">
                    <a:alpha val="90000"/>
                  </a:schemeClr>
                </a:glow>
              </a:effectLst>
            </a:endParaRPr>
          </a:p>
        </p:txBody>
      </p:sp>
      <p:sp>
        <p:nvSpPr>
          <p:cNvPr id="16" name="テキスト ボックス 15">
            <a:extLst>
              <a:ext uri="{FF2B5EF4-FFF2-40B4-BE49-F238E27FC236}">
                <a16:creationId xmlns:a16="http://schemas.microsoft.com/office/drawing/2014/main" id="{52F1CF87-284E-24FD-C246-19822681FDF7}"/>
              </a:ext>
            </a:extLst>
          </p:cNvPr>
          <p:cNvSpPr txBox="1"/>
          <p:nvPr/>
        </p:nvSpPr>
        <p:spPr>
          <a:xfrm>
            <a:off x="240498" y="1541124"/>
            <a:ext cx="3483795" cy="3785652"/>
          </a:xfrm>
          <a:prstGeom prst="rect">
            <a:avLst/>
          </a:prstGeom>
          <a:noFill/>
        </p:spPr>
        <p:txBody>
          <a:bodyPr wrap="square" rtlCol="0">
            <a:spAutoFit/>
          </a:bodyPr>
          <a:lstStyle/>
          <a:p>
            <a:r>
              <a:rPr lang="ja-JP" altLang="en-US" sz="2400" dirty="0"/>
              <a:t>手動で自動ステージを操作できる画面．</a:t>
            </a:r>
            <a:endParaRPr lang="en-US" altLang="ja-JP" sz="2400" dirty="0"/>
          </a:p>
          <a:p>
            <a:r>
              <a:rPr kumimoji="1" lang="ja-JP" altLang="en-US" sz="2400" dirty="0"/>
              <a:t>何もしなくていいので</a:t>
            </a:r>
            <a:endParaRPr kumimoji="1" lang="en-US" altLang="ja-JP" sz="2400" dirty="0"/>
          </a:p>
          <a:p>
            <a:r>
              <a:rPr kumimoji="1" lang="ja-JP" altLang="en-US" sz="2400" dirty="0"/>
              <a:t>次に進む</a:t>
            </a:r>
            <a:endParaRPr kumimoji="1" lang="en-US" altLang="ja-JP" sz="2400" dirty="0"/>
          </a:p>
          <a:p>
            <a:r>
              <a:rPr lang="en-US" altLang="ja-JP" sz="2400" dirty="0"/>
              <a:t>This screen allows you to operate the automatic stage manually. No action is required; proceed to the next step.</a:t>
            </a:r>
            <a:endParaRPr kumimoji="1" lang="ja-JP" altLang="en-US" sz="2400" dirty="0"/>
          </a:p>
        </p:txBody>
      </p:sp>
      <p:cxnSp>
        <p:nvCxnSpPr>
          <p:cNvPr id="17" name="直線矢印コネクタ 16">
            <a:extLst>
              <a:ext uri="{FF2B5EF4-FFF2-40B4-BE49-F238E27FC236}">
                <a16:creationId xmlns:a16="http://schemas.microsoft.com/office/drawing/2014/main" id="{AC882658-1FCB-8464-7EC6-735C972F5892}"/>
              </a:ext>
            </a:extLst>
          </p:cNvPr>
          <p:cNvCxnSpPr>
            <a:cxnSpLocks/>
          </p:cNvCxnSpPr>
          <p:nvPr/>
        </p:nvCxnSpPr>
        <p:spPr>
          <a:xfrm flipH="1">
            <a:off x="5342991" y="2017998"/>
            <a:ext cx="577065" cy="1150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28C324B-B152-61C2-3C12-D689E6DB4EE0}"/>
              </a:ext>
            </a:extLst>
          </p:cNvPr>
          <p:cNvSpPr txBox="1"/>
          <p:nvPr/>
        </p:nvSpPr>
        <p:spPr>
          <a:xfrm>
            <a:off x="5920056" y="1833332"/>
            <a:ext cx="990423" cy="369332"/>
          </a:xfrm>
          <a:prstGeom prst="rect">
            <a:avLst/>
          </a:prstGeom>
          <a:noFill/>
        </p:spPr>
        <p:txBody>
          <a:bodyPr wrap="square" rtlCol="0">
            <a:spAutoFit/>
          </a:bodyPr>
          <a:lstStyle/>
          <a:p>
            <a:r>
              <a:rPr kumimoji="1" lang="ja-JP" altLang="en-US" dirty="0">
                <a:effectLst>
                  <a:glow rad="254000">
                    <a:schemeClr val="bg1">
                      <a:alpha val="90000"/>
                    </a:schemeClr>
                  </a:glow>
                </a:effectLst>
              </a:rPr>
              <a:t>未実装</a:t>
            </a:r>
          </a:p>
        </p:txBody>
      </p:sp>
      <p:sp>
        <p:nvSpPr>
          <p:cNvPr id="20" name="テキスト ボックス 19">
            <a:extLst>
              <a:ext uri="{FF2B5EF4-FFF2-40B4-BE49-F238E27FC236}">
                <a16:creationId xmlns:a16="http://schemas.microsoft.com/office/drawing/2014/main" id="{E2314812-6EE2-6172-F805-6CB13A0E320E}"/>
              </a:ext>
            </a:extLst>
          </p:cNvPr>
          <p:cNvSpPr txBox="1"/>
          <p:nvPr/>
        </p:nvSpPr>
        <p:spPr>
          <a:xfrm>
            <a:off x="8794414" y="2260779"/>
            <a:ext cx="3339478" cy="646331"/>
          </a:xfrm>
          <a:prstGeom prst="rect">
            <a:avLst/>
          </a:prstGeom>
          <a:noFill/>
        </p:spPr>
        <p:txBody>
          <a:bodyPr wrap="square" rtlCol="0">
            <a:spAutoFit/>
          </a:bodyPr>
          <a:lstStyle/>
          <a:p>
            <a:r>
              <a:rPr lang="ja-JP" altLang="en-US" dirty="0">
                <a:effectLst>
                  <a:glow rad="254000">
                    <a:schemeClr val="bg1">
                      <a:alpha val="90000"/>
                    </a:schemeClr>
                  </a:glow>
                </a:effectLst>
              </a:rPr>
              <a:t>モニターの回転数と実際に</a:t>
            </a:r>
            <a:br>
              <a:rPr lang="en-US" altLang="ja-JP" dirty="0">
                <a:effectLst>
                  <a:glow rad="254000">
                    <a:schemeClr val="bg1">
                      <a:alpha val="90000"/>
                    </a:schemeClr>
                  </a:glow>
                </a:effectLst>
              </a:rPr>
            </a:br>
            <a:r>
              <a:rPr lang="ja-JP" altLang="en-US" dirty="0">
                <a:effectLst>
                  <a:glow rad="254000">
                    <a:schemeClr val="bg1">
                      <a:alpha val="90000"/>
                    </a:schemeClr>
                  </a:glow>
                </a:effectLst>
              </a:rPr>
              <a:t>動く距離を合わせる（</a:t>
            </a:r>
            <a:r>
              <a:rPr lang="en-US" altLang="ja-JP" dirty="0">
                <a:effectLst>
                  <a:glow rad="254000">
                    <a:schemeClr val="bg1">
                      <a:alpha val="90000"/>
                    </a:schemeClr>
                  </a:glow>
                </a:effectLst>
              </a:rPr>
              <a:t>P14?</a:t>
            </a:r>
            <a:r>
              <a:rPr lang="ja-JP" altLang="en-US" dirty="0">
                <a:effectLst>
                  <a:glow rad="254000">
                    <a:schemeClr val="bg1">
                      <a:alpha val="90000"/>
                    </a:schemeClr>
                  </a:glow>
                </a:effectLst>
              </a:rPr>
              <a:t>）</a:t>
            </a:r>
            <a:endParaRPr kumimoji="1" lang="ja-JP" altLang="en-US" dirty="0">
              <a:effectLst>
                <a:glow rad="254000">
                  <a:schemeClr val="bg1">
                    <a:alpha val="90000"/>
                  </a:schemeClr>
                </a:glow>
              </a:effectLst>
            </a:endParaRPr>
          </a:p>
        </p:txBody>
      </p:sp>
      <p:cxnSp>
        <p:nvCxnSpPr>
          <p:cNvPr id="21" name="直線矢印コネクタ 20">
            <a:extLst>
              <a:ext uri="{FF2B5EF4-FFF2-40B4-BE49-F238E27FC236}">
                <a16:creationId xmlns:a16="http://schemas.microsoft.com/office/drawing/2014/main" id="{57E390EF-5264-F971-524B-E25B06E5CCF0}"/>
              </a:ext>
            </a:extLst>
          </p:cNvPr>
          <p:cNvCxnSpPr>
            <a:cxnSpLocks/>
          </p:cNvCxnSpPr>
          <p:nvPr/>
        </p:nvCxnSpPr>
        <p:spPr>
          <a:xfrm flipH="1" flipV="1">
            <a:off x="8369674" y="2275602"/>
            <a:ext cx="485351" cy="1048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6465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13490-8239-A074-9391-515C46968DB6}"/>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CF29418-3809-4FB3-F904-F9BFC86AB941}"/>
              </a:ext>
            </a:extLst>
          </p:cNvPr>
          <p:cNvSpPr>
            <a:spLocks noGrp="1"/>
          </p:cNvSpPr>
          <p:nvPr>
            <p:ph sz="quarter" idx="12"/>
          </p:nvPr>
        </p:nvSpPr>
        <p:spPr/>
        <p:txBody>
          <a:bodyPr/>
          <a:lstStyle/>
          <a:p>
            <a:pPr indent="0">
              <a:buNone/>
            </a:pPr>
            <a:r>
              <a:rPr kumimoji="1" lang="ja-JP" altLang="en-US" dirty="0"/>
              <a:t>４　データの読み込み </a:t>
            </a:r>
            <a:r>
              <a:rPr kumimoji="1" lang="en-US" altLang="ja-JP" dirty="0"/>
              <a:t>(Import Data)</a:t>
            </a:r>
            <a:endParaRPr kumimoji="1" lang="ja-JP" altLang="en-US" dirty="0"/>
          </a:p>
        </p:txBody>
      </p:sp>
      <p:pic>
        <p:nvPicPr>
          <p:cNvPr id="8" name="図 7">
            <a:extLst>
              <a:ext uri="{FF2B5EF4-FFF2-40B4-BE49-F238E27FC236}">
                <a16:creationId xmlns:a16="http://schemas.microsoft.com/office/drawing/2014/main" id="{F5206BC4-67FC-0807-6BD9-63365F072164}"/>
              </a:ext>
            </a:extLst>
          </p:cNvPr>
          <p:cNvPicPr>
            <a:picLocks noChangeAspect="1"/>
          </p:cNvPicPr>
          <p:nvPr/>
        </p:nvPicPr>
        <p:blipFill>
          <a:blip r:embed="rId2"/>
          <a:stretch>
            <a:fillRect/>
          </a:stretch>
        </p:blipFill>
        <p:spPr>
          <a:xfrm>
            <a:off x="2063026" y="887143"/>
            <a:ext cx="8065947" cy="5912778"/>
          </a:xfrm>
          <a:prstGeom prst="rect">
            <a:avLst/>
          </a:prstGeom>
        </p:spPr>
      </p:pic>
      <p:grpSp>
        <p:nvGrpSpPr>
          <p:cNvPr id="17" name="グループ化 16">
            <a:extLst>
              <a:ext uri="{FF2B5EF4-FFF2-40B4-BE49-F238E27FC236}">
                <a16:creationId xmlns:a16="http://schemas.microsoft.com/office/drawing/2014/main" id="{E62EB971-3543-8535-E9F2-D801B2D9FA48}"/>
              </a:ext>
            </a:extLst>
          </p:cNvPr>
          <p:cNvGrpSpPr/>
          <p:nvPr/>
        </p:nvGrpSpPr>
        <p:grpSpPr>
          <a:xfrm>
            <a:off x="1862597" y="2082332"/>
            <a:ext cx="2630018" cy="1733388"/>
            <a:chOff x="-2216685" y="4209774"/>
            <a:chExt cx="2630018" cy="1733388"/>
          </a:xfrm>
        </p:grpSpPr>
        <p:sp>
          <p:nvSpPr>
            <p:cNvPr id="7" name="吹き出し: 角を丸めた四角形 6">
              <a:extLst>
                <a:ext uri="{FF2B5EF4-FFF2-40B4-BE49-F238E27FC236}">
                  <a16:creationId xmlns:a16="http://schemas.microsoft.com/office/drawing/2014/main" id="{FDC104A0-4205-6472-5BC4-1E78B866C3E0}"/>
                </a:ext>
              </a:extLst>
            </p:cNvPr>
            <p:cNvSpPr/>
            <p:nvPr/>
          </p:nvSpPr>
          <p:spPr>
            <a:xfrm rot="10800000">
              <a:off x="-2216685" y="4209774"/>
              <a:ext cx="2630018" cy="1733388"/>
            </a:xfrm>
            <a:prstGeom prst="wedgeRoundRectCallout">
              <a:avLst>
                <a:gd name="adj1" fmla="val 30403"/>
                <a:gd name="adj2" fmla="val 6893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pic>
          <p:nvPicPr>
            <p:cNvPr id="5" name="図 4">
              <a:extLst>
                <a:ext uri="{FF2B5EF4-FFF2-40B4-BE49-F238E27FC236}">
                  <a16:creationId xmlns:a16="http://schemas.microsoft.com/office/drawing/2014/main" id="{89674C3E-12E2-247B-9E25-899EFD71C2EC}"/>
                </a:ext>
              </a:extLst>
            </p:cNvPr>
            <p:cNvPicPr>
              <a:picLocks noChangeAspect="1"/>
            </p:cNvPicPr>
            <p:nvPr/>
          </p:nvPicPr>
          <p:blipFill>
            <a:blip r:embed="rId3"/>
            <a:stretch>
              <a:fillRect/>
            </a:stretch>
          </p:blipFill>
          <p:spPr>
            <a:xfrm>
              <a:off x="-1998171" y="4290402"/>
              <a:ext cx="2229161" cy="1514686"/>
            </a:xfrm>
            <a:prstGeom prst="rect">
              <a:avLst/>
            </a:prstGeom>
          </p:spPr>
        </p:pic>
      </p:grpSp>
      <p:cxnSp>
        <p:nvCxnSpPr>
          <p:cNvPr id="11" name="直線矢印コネクタ 10">
            <a:extLst>
              <a:ext uri="{FF2B5EF4-FFF2-40B4-BE49-F238E27FC236}">
                <a16:creationId xmlns:a16="http://schemas.microsoft.com/office/drawing/2014/main" id="{7618D91C-4984-DC42-5C3C-D30A6DF28BD8}"/>
              </a:ext>
            </a:extLst>
          </p:cNvPr>
          <p:cNvCxnSpPr>
            <a:cxnSpLocks/>
          </p:cNvCxnSpPr>
          <p:nvPr/>
        </p:nvCxnSpPr>
        <p:spPr>
          <a:xfrm flipH="1" flipV="1">
            <a:off x="3239250" y="1301443"/>
            <a:ext cx="860139" cy="251839"/>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80864DD8-C9AC-BB25-EDE9-CD0F49A79BDA}"/>
              </a:ext>
            </a:extLst>
          </p:cNvPr>
          <p:cNvSpPr txBox="1"/>
          <p:nvPr/>
        </p:nvSpPr>
        <p:spPr>
          <a:xfrm>
            <a:off x="3740775" y="1417516"/>
            <a:ext cx="4319580" cy="1015663"/>
          </a:xfrm>
          <a:prstGeom prst="rect">
            <a:avLst/>
          </a:prstGeom>
          <a:noFill/>
        </p:spPr>
        <p:txBody>
          <a:bodyPr wrap="square" rtlCol="0">
            <a:spAutoFit/>
          </a:bodyPr>
          <a:lstStyle/>
          <a:p>
            <a:r>
              <a:rPr lang="ja-JP" altLang="en-US" dirty="0">
                <a:effectLst>
                  <a:glow rad="254000">
                    <a:schemeClr val="bg1">
                      <a:alpha val="90000"/>
                    </a:schemeClr>
                  </a:glow>
                </a:effectLst>
              </a:rPr>
              <a:t>①作りたい</a:t>
            </a:r>
            <a:r>
              <a:rPr lang="en-US" altLang="ja-JP" dirty="0" err="1">
                <a:effectLst>
                  <a:glow rad="254000">
                    <a:schemeClr val="bg1">
                      <a:alpha val="90000"/>
                    </a:schemeClr>
                  </a:glow>
                </a:effectLst>
              </a:rPr>
              <a:t>dxf</a:t>
            </a:r>
            <a:r>
              <a:rPr lang="ja-JP" altLang="en-US" dirty="0">
                <a:effectLst>
                  <a:glow rad="254000">
                    <a:schemeClr val="bg1">
                      <a:alpha val="90000"/>
                    </a:schemeClr>
                  </a:glow>
                </a:effectLst>
              </a:rPr>
              <a:t>ファイルを選択</a:t>
            </a:r>
            <a:endParaRPr lang="en-US" altLang="ja-JP" dirty="0">
              <a:effectLst>
                <a:glow rad="254000">
                  <a:schemeClr val="bg1">
                    <a:alpha val="90000"/>
                  </a:schemeClr>
                </a:glow>
              </a:effectLst>
            </a:endParaRPr>
          </a:p>
          <a:p>
            <a:r>
              <a:rPr lang="en-US" altLang="ja-JP" dirty="0">
                <a:effectLst>
                  <a:glow rad="254000">
                    <a:schemeClr val="bg1">
                      <a:alpha val="90000"/>
                    </a:schemeClr>
                  </a:glow>
                </a:effectLst>
              </a:rPr>
              <a:t>Select the DXF file you want to create.</a:t>
            </a:r>
          </a:p>
          <a:p>
            <a:endParaRPr kumimoji="1" lang="ja-JP" altLang="en-US" sz="2400" dirty="0">
              <a:effectLst>
                <a:glow rad="254000">
                  <a:schemeClr val="bg1">
                    <a:alpha val="90000"/>
                  </a:schemeClr>
                </a:glow>
              </a:effectLst>
            </a:endParaRPr>
          </a:p>
        </p:txBody>
      </p:sp>
      <p:sp>
        <p:nvSpPr>
          <p:cNvPr id="16" name="テキスト ボックス 15">
            <a:extLst>
              <a:ext uri="{FF2B5EF4-FFF2-40B4-BE49-F238E27FC236}">
                <a16:creationId xmlns:a16="http://schemas.microsoft.com/office/drawing/2014/main" id="{BB3EB196-F04B-1A08-8933-1EB727559B77}"/>
              </a:ext>
            </a:extLst>
          </p:cNvPr>
          <p:cNvSpPr txBox="1"/>
          <p:nvPr/>
        </p:nvSpPr>
        <p:spPr>
          <a:xfrm>
            <a:off x="1074532" y="4013109"/>
            <a:ext cx="8745873" cy="2585323"/>
          </a:xfrm>
          <a:prstGeom prst="rect">
            <a:avLst/>
          </a:prstGeom>
          <a:noFill/>
        </p:spPr>
        <p:txBody>
          <a:bodyPr wrap="square" rtlCol="0">
            <a:spAutoFit/>
          </a:bodyPr>
          <a:lstStyle/>
          <a:p>
            <a:r>
              <a:rPr lang="ja-JP" altLang="en-US" dirty="0">
                <a:effectLst>
                  <a:glow rad="254000">
                    <a:schemeClr val="bg1">
                      <a:alpha val="90000"/>
                    </a:schemeClr>
                  </a:glow>
                </a:effectLst>
              </a:rPr>
              <a:t>②溶着条件を選ぶ</a:t>
            </a:r>
            <a:endParaRPr lang="en-US" altLang="ja-JP" dirty="0">
              <a:effectLst>
                <a:glow rad="254000">
                  <a:schemeClr val="bg1">
                    <a:alpha val="90000"/>
                  </a:schemeClr>
                </a:glow>
              </a:effectLst>
            </a:endParaRPr>
          </a:p>
          <a:p>
            <a:r>
              <a:rPr lang="en-US" altLang="ja-JP" dirty="0">
                <a:effectLst>
                  <a:glow rad="254000">
                    <a:schemeClr val="bg1">
                      <a:alpha val="90000"/>
                    </a:schemeClr>
                  </a:glow>
                </a:effectLst>
              </a:rPr>
              <a:t>p</a:t>
            </a:r>
            <a:r>
              <a:rPr kumimoji="1" lang="en-US" altLang="ja-JP" dirty="0">
                <a:effectLst>
                  <a:glow rad="254000">
                    <a:schemeClr val="bg1">
                      <a:alpha val="90000"/>
                    </a:schemeClr>
                  </a:glow>
                </a:effectLst>
              </a:rPr>
              <a:t>reset.py</a:t>
            </a:r>
            <a:r>
              <a:rPr lang="ja-JP" altLang="en-US" dirty="0">
                <a:effectLst>
                  <a:glow rad="254000">
                    <a:schemeClr val="bg1">
                      <a:alpha val="90000"/>
                    </a:schemeClr>
                  </a:glow>
                </a:effectLst>
              </a:rPr>
              <a:t>で変更可能．</a:t>
            </a:r>
            <a:endParaRPr lang="en-US" altLang="ja-JP" dirty="0">
              <a:effectLst>
                <a:glow rad="254000">
                  <a:schemeClr val="bg1">
                    <a:alpha val="90000"/>
                  </a:schemeClr>
                </a:glow>
              </a:effectLst>
            </a:endParaRPr>
          </a:p>
          <a:p>
            <a:r>
              <a:rPr lang="en-US" altLang="ja-JP" dirty="0">
                <a:effectLst>
                  <a:glow rad="254000">
                    <a:schemeClr val="bg1">
                      <a:alpha val="90000"/>
                    </a:schemeClr>
                  </a:glow>
                </a:effectLst>
              </a:rPr>
              <a:t>〈</a:t>
            </a:r>
            <a:r>
              <a:rPr lang="ja-JP" altLang="en-US" dirty="0">
                <a:effectLst>
                  <a:glow rad="254000">
                    <a:schemeClr val="bg1">
                      <a:alpha val="90000"/>
                    </a:schemeClr>
                  </a:glow>
                </a:effectLst>
              </a:rPr>
              <a:t>パラメーター</a:t>
            </a:r>
            <a:r>
              <a:rPr lang="en-US" altLang="ja-JP" dirty="0">
                <a:effectLst>
                  <a:glow rad="254000">
                    <a:schemeClr val="bg1">
                      <a:alpha val="90000"/>
                    </a:schemeClr>
                  </a:glow>
                </a:effectLst>
              </a:rPr>
              <a:t>〉</a:t>
            </a:r>
          </a:p>
          <a:p>
            <a:r>
              <a:rPr kumimoji="1" lang="ja-JP" altLang="en-US" dirty="0">
                <a:effectLst>
                  <a:glow rad="254000">
                    <a:schemeClr val="bg1">
                      <a:alpha val="90000"/>
                    </a:schemeClr>
                  </a:glow>
                </a:effectLst>
              </a:rPr>
              <a:t>溶着点の間隔、溶着時の押し付け力、</a:t>
            </a:r>
            <a:br>
              <a:rPr kumimoji="1" lang="en-US" altLang="ja-JP" dirty="0">
                <a:effectLst>
                  <a:glow rad="254000">
                    <a:schemeClr val="bg1">
                      <a:alpha val="90000"/>
                    </a:schemeClr>
                  </a:glow>
                </a:effectLst>
              </a:rPr>
            </a:br>
            <a:r>
              <a:rPr kumimoji="1" lang="ja-JP" altLang="en-US" dirty="0">
                <a:effectLst>
                  <a:glow rad="254000">
                    <a:schemeClr val="bg1">
                      <a:alpha val="90000"/>
                    </a:schemeClr>
                  </a:glow>
                </a:effectLst>
              </a:rPr>
              <a:t>溶着時間（溶着機本体でも設定できる）、（溶着パワーは溶着機本体で変更）．．．</a:t>
            </a:r>
            <a:endParaRPr kumimoji="1" lang="en-US" altLang="ja-JP" dirty="0">
              <a:effectLst>
                <a:glow rad="254000">
                  <a:schemeClr val="bg1">
                    <a:alpha val="90000"/>
                  </a:schemeClr>
                </a:glow>
              </a:effectLst>
            </a:endParaRPr>
          </a:p>
          <a:p>
            <a:r>
              <a:rPr kumimoji="1" lang="en-US" altLang="ja-JP" dirty="0">
                <a:effectLst>
                  <a:glow rad="254000">
                    <a:schemeClr val="bg1">
                      <a:alpha val="90000"/>
                    </a:schemeClr>
                  </a:glow>
                </a:effectLst>
              </a:rPr>
              <a:t>Select the welding conditions . These can be modified in preset.py. Welding point interval (pitch)Welding contact force (pressing force)Welding time (can also be configured on the welder itself)(Note: Welding power must be changed directly on the welder)</a:t>
            </a:r>
          </a:p>
        </p:txBody>
      </p:sp>
      <p:cxnSp>
        <p:nvCxnSpPr>
          <p:cNvPr id="18" name="直線矢印コネクタ 17">
            <a:extLst>
              <a:ext uri="{FF2B5EF4-FFF2-40B4-BE49-F238E27FC236}">
                <a16:creationId xmlns:a16="http://schemas.microsoft.com/office/drawing/2014/main" id="{90C6738C-EA00-9D69-0D63-B93DDF6DD9D4}"/>
              </a:ext>
            </a:extLst>
          </p:cNvPr>
          <p:cNvCxnSpPr>
            <a:cxnSpLocks/>
          </p:cNvCxnSpPr>
          <p:nvPr/>
        </p:nvCxnSpPr>
        <p:spPr>
          <a:xfrm flipV="1">
            <a:off x="1971853" y="3627002"/>
            <a:ext cx="218515" cy="377438"/>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98A7F789-2D8A-3CED-6825-14B3B7CDBC8A}"/>
              </a:ext>
            </a:extLst>
          </p:cNvPr>
          <p:cNvSpPr txBox="1"/>
          <p:nvPr/>
        </p:nvSpPr>
        <p:spPr>
          <a:xfrm>
            <a:off x="7510409" y="2196859"/>
            <a:ext cx="4079801" cy="646331"/>
          </a:xfrm>
          <a:prstGeom prst="rect">
            <a:avLst/>
          </a:prstGeom>
          <a:noFill/>
        </p:spPr>
        <p:txBody>
          <a:bodyPr wrap="square" rtlCol="0">
            <a:spAutoFit/>
          </a:bodyPr>
          <a:lstStyle/>
          <a:p>
            <a:r>
              <a:rPr lang="ja-JP" altLang="en-US" dirty="0">
                <a:effectLst>
                  <a:glow rad="254000">
                    <a:schemeClr val="bg1">
                      <a:alpha val="90000"/>
                    </a:schemeClr>
                  </a:glow>
                </a:effectLst>
              </a:rPr>
              <a:t>③ここをクリックする</a:t>
            </a:r>
            <a:endParaRPr lang="en-US" altLang="ja-JP" dirty="0">
              <a:effectLst>
                <a:glow rad="254000">
                  <a:schemeClr val="bg1">
                    <a:alpha val="90000"/>
                  </a:schemeClr>
                </a:glow>
              </a:effectLst>
            </a:endParaRPr>
          </a:p>
          <a:p>
            <a:r>
              <a:rPr kumimoji="1" lang="en-US" altLang="ja-JP" dirty="0">
                <a:effectLst>
                  <a:glow rad="254000">
                    <a:schemeClr val="bg1">
                      <a:alpha val="90000"/>
                    </a:schemeClr>
                  </a:glow>
                </a:effectLst>
              </a:rPr>
              <a:t>Click here</a:t>
            </a:r>
            <a:endParaRPr kumimoji="1" lang="ja-JP" altLang="en-US" dirty="0">
              <a:effectLst>
                <a:glow rad="254000">
                  <a:schemeClr val="bg1">
                    <a:alpha val="90000"/>
                  </a:schemeClr>
                </a:glow>
              </a:effectLst>
            </a:endParaRPr>
          </a:p>
        </p:txBody>
      </p:sp>
      <p:cxnSp>
        <p:nvCxnSpPr>
          <p:cNvPr id="24" name="直線矢印コネクタ 23">
            <a:extLst>
              <a:ext uri="{FF2B5EF4-FFF2-40B4-BE49-F238E27FC236}">
                <a16:creationId xmlns:a16="http://schemas.microsoft.com/office/drawing/2014/main" id="{0B166169-2792-8AE1-CDF6-6301B7FDD741}"/>
              </a:ext>
            </a:extLst>
          </p:cNvPr>
          <p:cNvCxnSpPr>
            <a:cxnSpLocks/>
          </p:cNvCxnSpPr>
          <p:nvPr/>
        </p:nvCxnSpPr>
        <p:spPr>
          <a:xfrm flipV="1">
            <a:off x="9069448" y="1810752"/>
            <a:ext cx="218515" cy="377438"/>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967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46A97-75BD-5DEC-C31E-A175CE11A85E}"/>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18AA956-41BC-C46E-D817-E5C77D8C7CF6}"/>
              </a:ext>
            </a:extLst>
          </p:cNvPr>
          <p:cNvSpPr>
            <a:spLocks noGrp="1"/>
          </p:cNvSpPr>
          <p:nvPr>
            <p:ph sz="quarter" idx="12"/>
          </p:nvPr>
        </p:nvSpPr>
        <p:spPr/>
        <p:txBody>
          <a:bodyPr/>
          <a:lstStyle/>
          <a:p>
            <a:pPr indent="0">
              <a:buNone/>
            </a:pPr>
            <a:r>
              <a:rPr kumimoji="1" lang="ja-JP" altLang="en-US" dirty="0"/>
              <a:t>５　溶着点の確認・編集 </a:t>
            </a:r>
            <a:r>
              <a:rPr kumimoji="1" lang="en-US" altLang="ja-JP" dirty="0"/>
              <a:t>(Confirm and Edit Welding Points)</a:t>
            </a:r>
            <a:endParaRPr kumimoji="1" lang="ja-JP" altLang="en-US" dirty="0"/>
          </a:p>
        </p:txBody>
      </p:sp>
      <p:pic>
        <p:nvPicPr>
          <p:cNvPr id="12" name="図 11">
            <a:extLst>
              <a:ext uri="{FF2B5EF4-FFF2-40B4-BE49-F238E27FC236}">
                <a16:creationId xmlns:a16="http://schemas.microsoft.com/office/drawing/2014/main" id="{016E0DD2-0891-588E-CD5C-38D2774EC7D9}"/>
              </a:ext>
            </a:extLst>
          </p:cNvPr>
          <p:cNvPicPr>
            <a:picLocks noChangeAspect="1"/>
          </p:cNvPicPr>
          <p:nvPr/>
        </p:nvPicPr>
        <p:blipFill>
          <a:blip r:embed="rId2"/>
          <a:stretch>
            <a:fillRect/>
          </a:stretch>
        </p:blipFill>
        <p:spPr>
          <a:xfrm>
            <a:off x="3234303" y="914401"/>
            <a:ext cx="8127545" cy="5881955"/>
          </a:xfrm>
          <a:prstGeom prst="rect">
            <a:avLst/>
          </a:prstGeom>
        </p:spPr>
      </p:pic>
      <p:sp>
        <p:nvSpPr>
          <p:cNvPr id="5" name="テキスト ボックス 4">
            <a:extLst>
              <a:ext uri="{FF2B5EF4-FFF2-40B4-BE49-F238E27FC236}">
                <a16:creationId xmlns:a16="http://schemas.microsoft.com/office/drawing/2014/main" id="{EA3DBFB7-1B4A-71D4-E475-B7215DC4E106}"/>
              </a:ext>
            </a:extLst>
          </p:cNvPr>
          <p:cNvSpPr txBox="1"/>
          <p:nvPr/>
        </p:nvSpPr>
        <p:spPr>
          <a:xfrm>
            <a:off x="9277493" y="1814438"/>
            <a:ext cx="3418083" cy="1200329"/>
          </a:xfrm>
          <a:prstGeom prst="rect">
            <a:avLst/>
          </a:prstGeom>
          <a:noFill/>
        </p:spPr>
        <p:txBody>
          <a:bodyPr wrap="square" rtlCol="0">
            <a:spAutoFit/>
          </a:bodyPr>
          <a:lstStyle/>
          <a:p>
            <a:r>
              <a:rPr kumimoji="1" lang="ja-JP" altLang="en-US" sz="2400" dirty="0">
                <a:effectLst>
                  <a:glow rad="254000">
                    <a:schemeClr val="bg1">
                      <a:alpha val="90000"/>
                    </a:schemeClr>
                  </a:glow>
                </a:effectLst>
              </a:rPr>
              <a:t>最後にここを押す</a:t>
            </a:r>
            <a:br>
              <a:rPr kumimoji="1" lang="en-US" altLang="ja-JP" sz="2400" dirty="0">
                <a:effectLst>
                  <a:glow rad="254000">
                    <a:schemeClr val="bg1">
                      <a:alpha val="90000"/>
                    </a:schemeClr>
                  </a:glow>
                </a:effectLst>
              </a:rPr>
            </a:br>
            <a:r>
              <a:rPr kumimoji="1" lang="en-US" altLang="ja-JP" sz="2400" dirty="0">
                <a:effectLst>
                  <a:glow rad="254000">
                    <a:schemeClr val="bg1">
                      <a:alpha val="90000"/>
                    </a:schemeClr>
                  </a:glow>
                </a:effectLst>
              </a:rPr>
              <a:t>(Click Here for Next Page)</a:t>
            </a:r>
            <a:endParaRPr kumimoji="1" lang="ja-JP" altLang="en-US" sz="2400" dirty="0">
              <a:effectLst>
                <a:glow rad="254000">
                  <a:schemeClr val="bg1">
                    <a:alpha val="90000"/>
                  </a:schemeClr>
                </a:glow>
              </a:effectLst>
            </a:endParaRPr>
          </a:p>
        </p:txBody>
      </p:sp>
      <p:cxnSp>
        <p:nvCxnSpPr>
          <p:cNvPr id="7" name="直線矢印コネクタ 6">
            <a:extLst>
              <a:ext uri="{FF2B5EF4-FFF2-40B4-BE49-F238E27FC236}">
                <a16:creationId xmlns:a16="http://schemas.microsoft.com/office/drawing/2014/main" id="{0BC0388B-3186-306F-C717-ABC98DEA4D6F}"/>
              </a:ext>
            </a:extLst>
          </p:cNvPr>
          <p:cNvCxnSpPr>
            <a:cxnSpLocks/>
          </p:cNvCxnSpPr>
          <p:nvPr/>
        </p:nvCxnSpPr>
        <p:spPr>
          <a:xfrm flipV="1">
            <a:off x="10174814" y="1428331"/>
            <a:ext cx="218515" cy="377438"/>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8131305-A778-D764-0F7B-312DC5F5E0B1}"/>
              </a:ext>
            </a:extLst>
          </p:cNvPr>
          <p:cNvSpPr txBox="1"/>
          <p:nvPr/>
        </p:nvSpPr>
        <p:spPr>
          <a:xfrm>
            <a:off x="0" y="885787"/>
            <a:ext cx="3541070" cy="1323439"/>
          </a:xfrm>
          <a:prstGeom prst="rect">
            <a:avLst/>
          </a:prstGeom>
          <a:noFill/>
        </p:spPr>
        <p:txBody>
          <a:bodyPr wrap="square" rtlCol="0">
            <a:spAutoFit/>
          </a:bodyPr>
          <a:lstStyle/>
          <a:p>
            <a:r>
              <a:rPr lang="ja-JP" altLang="en-US" sz="2000" dirty="0">
                <a:effectLst>
                  <a:glow rad="254000">
                    <a:schemeClr val="bg1">
                      <a:alpha val="90000"/>
                    </a:schemeClr>
                  </a:glow>
                </a:effectLst>
              </a:rPr>
              <a:t>赤い丸で溶着点が表示される</a:t>
            </a:r>
            <a:br>
              <a:rPr lang="en-US" altLang="ja-JP" sz="2000" dirty="0">
                <a:effectLst>
                  <a:glow rad="254000">
                    <a:schemeClr val="bg1">
                      <a:alpha val="90000"/>
                    </a:schemeClr>
                  </a:glow>
                </a:effectLst>
              </a:rPr>
            </a:br>
            <a:r>
              <a:rPr lang="en-US" altLang="ja-JP" dirty="0">
                <a:effectLst>
                  <a:glow rad="254000">
                    <a:schemeClr val="bg1">
                      <a:alpha val="90000"/>
                    </a:schemeClr>
                  </a:glow>
                </a:effectLst>
              </a:rPr>
              <a:t>(The welding points are displayed as red circles)</a:t>
            </a:r>
          </a:p>
          <a:p>
            <a:r>
              <a:rPr lang="ja-JP" altLang="en-US" sz="2400" dirty="0">
                <a:effectLst>
                  <a:glow rad="254000">
                    <a:schemeClr val="bg1">
                      <a:alpha val="90000"/>
                    </a:schemeClr>
                  </a:glow>
                </a:effectLst>
              </a:rPr>
              <a:t>　　　</a:t>
            </a:r>
            <a:endParaRPr lang="en-US" altLang="ja-JP" sz="2400" dirty="0">
              <a:effectLst>
                <a:glow rad="254000">
                  <a:schemeClr val="bg1">
                    <a:alpha val="90000"/>
                  </a:schemeClr>
                </a:glow>
              </a:effectLst>
            </a:endParaRPr>
          </a:p>
        </p:txBody>
      </p:sp>
      <p:sp>
        <p:nvSpPr>
          <p:cNvPr id="11" name="テキスト ボックス 10">
            <a:extLst>
              <a:ext uri="{FF2B5EF4-FFF2-40B4-BE49-F238E27FC236}">
                <a16:creationId xmlns:a16="http://schemas.microsoft.com/office/drawing/2014/main" id="{8D20E71D-6651-A734-F37E-9E52926C8E7F}"/>
              </a:ext>
            </a:extLst>
          </p:cNvPr>
          <p:cNvSpPr txBox="1"/>
          <p:nvPr/>
        </p:nvSpPr>
        <p:spPr>
          <a:xfrm>
            <a:off x="3606206" y="2524786"/>
            <a:ext cx="823989" cy="461665"/>
          </a:xfrm>
          <a:prstGeom prst="rect">
            <a:avLst/>
          </a:prstGeom>
          <a:noFill/>
        </p:spPr>
        <p:txBody>
          <a:bodyPr wrap="square" rtlCol="0">
            <a:spAutoFit/>
          </a:bodyPr>
          <a:lstStyle/>
          <a:p>
            <a:r>
              <a:rPr kumimoji="1" lang="ja-JP" altLang="en-US" sz="2400" dirty="0">
                <a:effectLst>
                  <a:glow rad="254000">
                    <a:schemeClr val="bg1">
                      <a:alpha val="90000"/>
                    </a:schemeClr>
                  </a:glow>
                </a:effectLst>
              </a:rPr>
              <a:t>移動</a:t>
            </a:r>
          </a:p>
        </p:txBody>
      </p:sp>
      <p:sp>
        <p:nvSpPr>
          <p:cNvPr id="13" name="テキスト ボックス 12">
            <a:extLst>
              <a:ext uri="{FF2B5EF4-FFF2-40B4-BE49-F238E27FC236}">
                <a16:creationId xmlns:a16="http://schemas.microsoft.com/office/drawing/2014/main" id="{79FF7DF5-1AA2-1DB4-0B20-6954DF567479}"/>
              </a:ext>
            </a:extLst>
          </p:cNvPr>
          <p:cNvSpPr txBox="1"/>
          <p:nvPr/>
        </p:nvSpPr>
        <p:spPr>
          <a:xfrm>
            <a:off x="4362457" y="2499619"/>
            <a:ext cx="1469205" cy="461665"/>
          </a:xfrm>
          <a:prstGeom prst="rect">
            <a:avLst/>
          </a:prstGeom>
          <a:noFill/>
        </p:spPr>
        <p:txBody>
          <a:bodyPr wrap="square" rtlCol="0">
            <a:spAutoFit/>
          </a:bodyPr>
          <a:lstStyle/>
          <a:p>
            <a:r>
              <a:rPr kumimoji="1" lang="ja-JP" altLang="en-US" sz="2400" dirty="0">
                <a:effectLst>
                  <a:glow rad="254000">
                    <a:schemeClr val="bg1">
                      <a:alpha val="90000"/>
                    </a:schemeClr>
                  </a:glow>
                </a:effectLst>
              </a:rPr>
              <a:t>拡大縮小</a:t>
            </a:r>
          </a:p>
        </p:txBody>
      </p:sp>
      <p:cxnSp>
        <p:nvCxnSpPr>
          <p:cNvPr id="15" name="直線矢印コネクタ 14">
            <a:extLst>
              <a:ext uri="{FF2B5EF4-FFF2-40B4-BE49-F238E27FC236}">
                <a16:creationId xmlns:a16="http://schemas.microsoft.com/office/drawing/2014/main" id="{F76E00C3-73E2-7700-046D-7A808126C40B}"/>
              </a:ext>
            </a:extLst>
          </p:cNvPr>
          <p:cNvCxnSpPr>
            <a:cxnSpLocks/>
          </p:cNvCxnSpPr>
          <p:nvPr/>
        </p:nvCxnSpPr>
        <p:spPr>
          <a:xfrm flipH="1" flipV="1">
            <a:off x="3990817" y="2147348"/>
            <a:ext cx="17519" cy="377438"/>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3B0FC163-750F-6AC9-AC98-8DE502ED9E5D}"/>
              </a:ext>
            </a:extLst>
          </p:cNvPr>
          <p:cNvCxnSpPr>
            <a:cxnSpLocks/>
          </p:cNvCxnSpPr>
          <p:nvPr/>
        </p:nvCxnSpPr>
        <p:spPr>
          <a:xfrm flipH="1" flipV="1">
            <a:off x="4230598" y="2126082"/>
            <a:ext cx="199597" cy="428234"/>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EA919A48-237B-25E5-8646-DCAAEDAFF881}"/>
              </a:ext>
            </a:extLst>
          </p:cNvPr>
          <p:cNvSpPr txBox="1"/>
          <p:nvPr/>
        </p:nvSpPr>
        <p:spPr>
          <a:xfrm>
            <a:off x="-1" y="2126082"/>
            <a:ext cx="3763333" cy="4585871"/>
          </a:xfrm>
          <a:prstGeom prst="rect">
            <a:avLst/>
          </a:prstGeom>
          <a:noFill/>
        </p:spPr>
        <p:txBody>
          <a:bodyPr wrap="square" rtlCol="0">
            <a:spAutoFit/>
          </a:bodyPr>
          <a:lstStyle/>
          <a:p>
            <a:r>
              <a:rPr lang="en-US" altLang="ja-JP" sz="2000" dirty="0">
                <a:effectLst>
                  <a:glow rad="254000">
                    <a:schemeClr val="bg1">
                      <a:alpha val="90000"/>
                    </a:schemeClr>
                  </a:glow>
                </a:effectLst>
              </a:rPr>
              <a:t>〈</a:t>
            </a:r>
            <a:r>
              <a:rPr lang="ja-JP" altLang="en-US" sz="2000" dirty="0">
                <a:effectLst>
                  <a:glow rad="254000">
                    <a:schemeClr val="bg1">
                      <a:alpha val="90000"/>
                    </a:schemeClr>
                  </a:glow>
                </a:effectLst>
              </a:rPr>
              <a:t>溶着点を自分でつけたい場合 </a:t>
            </a:r>
            <a:r>
              <a:rPr lang="en-US" altLang="ja-JP" dirty="0">
                <a:effectLst>
                  <a:glow rad="254000">
                    <a:schemeClr val="bg1">
                      <a:alpha val="90000"/>
                    </a:schemeClr>
                  </a:glow>
                </a:effectLst>
              </a:rPr>
              <a:t>(</a:t>
            </a:r>
            <a:r>
              <a:rPr lang="ja-JP" altLang="ja-JP" dirty="0"/>
              <a:t>If you want to add welding points manually</a:t>
            </a:r>
            <a:r>
              <a:rPr lang="en-US" altLang="ja-JP" dirty="0">
                <a:effectLst>
                  <a:glow rad="254000">
                    <a:schemeClr val="bg1">
                      <a:alpha val="90000"/>
                    </a:schemeClr>
                  </a:glow>
                </a:effectLst>
              </a:rPr>
              <a:t>) </a:t>
            </a:r>
            <a:r>
              <a:rPr lang="en-US" altLang="ja-JP" sz="2400" dirty="0">
                <a:effectLst>
                  <a:glow rad="254000">
                    <a:schemeClr val="bg1">
                      <a:alpha val="90000"/>
                    </a:schemeClr>
                  </a:glow>
                </a:effectLst>
              </a:rPr>
              <a:t>〉</a:t>
            </a:r>
            <a:br>
              <a:rPr kumimoji="1" lang="en-US" altLang="ja-JP" sz="2000" dirty="0">
                <a:effectLst>
                  <a:glow rad="254000">
                    <a:schemeClr val="bg1">
                      <a:alpha val="90000"/>
                    </a:schemeClr>
                  </a:glow>
                </a:effectLst>
              </a:rPr>
            </a:br>
            <a:r>
              <a:rPr kumimoji="1" lang="ja-JP" altLang="en-US" sz="2000" dirty="0">
                <a:effectLst>
                  <a:glow rad="254000">
                    <a:schemeClr val="bg1">
                      <a:alpha val="90000"/>
                    </a:schemeClr>
                  </a:glow>
                </a:effectLst>
              </a:rPr>
              <a:t>移動、拡大縮小のボタンをオンにして位置を調整</a:t>
            </a:r>
            <a:r>
              <a:rPr lang="en-US" altLang="ja-JP" sz="2000" dirty="0">
                <a:effectLst>
                  <a:glow rad="254000">
                    <a:schemeClr val="bg1">
                      <a:alpha val="90000"/>
                    </a:schemeClr>
                  </a:glow>
                </a:effectLst>
              </a:rPr>
              <a:t>.</a:t>
            </a:r>
            <a:br>
              <a:rPr kumimoji="1" lang="en-US" altLang="ja-JP" sz="2000" dirty="0">
                <a:effectLst>
                  <a:glow rad="254000">
                    <a:schemeClr val="bg1">
                      <a:alpha val="90000"/>
                    </a:schemeClr>
                  </a:glow>
                </a:effectLst>
              </a:rPr>
            </a:br>
            <a:r>
              <a:rPr kumimoji="1" lang="ja-JP" altLang="en-US" sz="2000" dirty="0">
                <a:effectLst>
                  <a:glow rad="254000">
                    <a:schemeClr val="bg1">
                      <a:alpha val="90000"/>
                    </a:schemeClr>
                  </a:glow>
                </a:effectLst>
              </a:rPr>
              <a:t>マウスの右クリックで</a:t>
            </a:r>
            <a:endParaRPr kumimoji="1" lang="en-US" altLang="ja-JP" sz="2000" dirty="0">
              <a:effectLst>
                <a:glow rad="254000">
                  <a:schemeClr val="bg1">
                    <a:alpha val="90000"/>
                  </a:schemeClr>
                </a:glow>
              </a:effectLst>
            </a:endParaRPr>
          </a:p>
          <a:p>
            <a:r>
              <a:rPr lang="ja-JP" altLang="en-US" sz="2000" dirty="0">
                <a:effectLst>
                  <a:glow rad="254000">
                    <a:schemeClr val="bg1">
                      <a:alpha val="90000"/>
                    </a:schemeClr>
                  </a:glow>
                </a:effectLst>
              </a:rPr>
              <a:t>溶着点の追加や削除</a:t>
            </a:r>
            <a:br>
              <a:rPr lang="en-US" altLang="ja-JP" sz="2000" dirty="0">
                <a:effectLst>
                  <a:glow rad="254000">
                    <a:schemeClr val="bg1">
                      <a:alpha val="90000"/>
                    </a:schemeClr>
                  </a:glow>
                </a:effectLst>
              </a:rPr>
            </a:br>
            <a:r>
              <a:rPr lang="ja-JP" altLang="en-US" sz="2000" dirty="0">
                <a:effectLst>
                  <a:glow rad="254000">
                    <a:schemeClr val="bg1">
                      <a:alpha val="90000"/>
                    </a:schemeClr>
                  </a:glow>
                </a:effectLst>
              </a:rPr>
              <a:t>（最後に追加された点は一番最後に溶着される）</a:t>
            </a:r>
            <a:br>
              <a:rPr lang="en-US" altLang="ja-JP" sz="2000" dirty="0">
                <a:effectLst>
                  <a:glow rad="254000">
                    <a:schemeClr val="bg1">
                      <a:alpha val="90000"/>
                    </a:schemeClr>
                  </a:glow>
                </a:effectLst>
              </a:rPr>
            </a:br>
            <a:r>
              <a:rPr lang="en-US" altLang="ja-JP" dirty="0">
                <a:effectLst>
                  <a:glow rad="254000">
                    <a:schemeClr val="bg1">
                      <a:alpha val="90000"/>
                    </a:schemeClr>
                  </a:glow>
                </a:effectLst>
              </a:rPr>
              <a:t>(Turn ON the Move or Scale buttons to adjust the </a:t>
            </a:r>
            <a:r>
              <a:rPr lang="en-US" altLang="ja-JP" dirty="0" err="1">
                <a:effectLst>
                  <a:glow rad="254000">
                    <a:schemeClr val="bg1">
                      <a:alpha val="90000"/>
                    </a:schemeClr>
                  </a:glow>
                </a:effectLst>
              </a:rPr>
              <a:t>position.Right</a:t>
            </a:r>
            <a:r>
              <a:rPr lang="en-US" altLang="ja-JP" dirty="0">
                <a:effectLst>
                  <a:glow rad="254000">
                    <a:schemeClr val="bg1">
                      <a:alpha val="90000"/>
                    </a:schemeClr>
                  </a:glow>
                </a:effectLst>
              </a:rPr>
              <a:t>-click with the mouse to add or delete welding </a:t>
            </a:r>
            <a:r>
              <a:rPr lang="en-US" altLang="ja-JP" dirty="0" err="1">
                <a:effectLst>
                  <a:glow rad="254000">
                    <a:schemeClr val="bg1">
                      <a:alpha val="90000"/>
                    </a:schemeClr>
                  </a:glow>
                </a:effectLst>
              </a:rPr>
              <a:t>points.Note</a:t>
            </a:r>
            <a:r>
              <a:rPr lang="en-US" altLang="ja-JP" dirty="0">
                <a:effectLst>
                  <a:glow rad="254000">
                    <a:schemeClr val="bg1">
                      <a:alpha val="90000"/>
                    </a:schemeClr>
                  </a:glow>
                </a:effectLst>
              </a:rPr>
              <a:t>: The last point added will be the last one to be welded)</a:t>
            </a:r>
            <a:endParaRPr kumimoji="1" lang="ja-JP" altLang="en-US" sz="2000" dirty="0">
              <a:effectLst>
                <a:glow rad="254000">
                  <a:schemeClr val="bg1">
                    <a:alpha val="90000"/>
                  </a:schemeClr>
                </a:glow>
              </a:effectLst>
            </a:endParaRPr>
          </a:p>
        </p:txBody>
      </p:sp>
    </p:spTree>
    <p:extLst>
      <p:ext uri="{BB962C8B-B14F-4D97-AF65-F5344CB8AC3E}">
        <p14:creationId xmlns:p14="http://schemas.microsoft.com/office/powerpoint/2010/main" val="3435397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8F9F-F42E-5A6B-27A7-7F4CF1C679F3}"/>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AE1C1E1-FAC4-5842-52E5-2FDD70F0B566}"/>
              </a:ext>
            </a:extLst>
          </p:cNvPr>
          <p:cNvSpPr>
            <a:spLocks noGrp="1"/>
          </p:cNvSpPr>
          <p:nvPr>
            <p:ph sz="quarter" idx="12"/>
          </p:nvPr>
        </p:nvSpPr>
        <p:spPr/>
        <p:txBody>
          <a:bodyPr/>
          <a:lstStyle/>
          <a:p>
            <a:pPr indent="0">
              <a:buNone/>
            </a:pPr>
            <a:r>
              <a:rPr kumimoji="1" lang="ja-JP" altLang="en-US" dirty="0"/>
              <a:t>６　溶着実行 </a:t>
            </a:r>
            <a:r>
              <a:rPr kumimoji="1" lang="en-US" altLang="ja-JP" dirty="0"/>
              <a:t>(</a:t>
            </a:r>
            <a:r>
              <a:rPr lang="ja-JP" altLang="ja-JP" dirty="0"/>
              <a:t>Execute Welding</a:t>
            </a:r>
            <a:r>
              <a:rPr kumimoji="1" lang="en-US" altLang="ja-JP" dirty="0"/>
              <a:t>)</a:t>
            </a:r>
            <a:endParaRPr kumimoji="1" lang="ja-JP" altLang="en-US" dirty="0"/>
          </a:p>
        </p:txBody>
      </p:sp>
      <p:pic>
        <p:nvPicPr>
          <p:cNvPr id="14" name="図 13">
            <a:extLst>
              <a:ext uri="{FF2B5EF4-FFF2-40B4-BE49-F238E27FC236}">
                <a16:creationId xmlns:a16="http://schemas.microsoft.com/office/drawing/2014/main" id="{583994DC-175A-97FE-2394-40FB2C293A28}"/>
              </a:ext>
            </a:extLst>
          </p:cNvPr>
          <p:cNvPicPr>
            <a:picLocks noChangeAspect="1"/>
          </p:cNvPicPr>
          <p:nvPr/>
        </p:nvPicPr>
        <p:blipFill>
          <a:blip r:embed="rId2"/>
          <a:stretch>
            <a:fillRect/>
          </a:stretch>
        </p:blipFill>
        <p:spPr>
          <a:xfrm>
            <a:off x="2070171" y="952106"/>
            <a:ext cx="8051657" cy="5905894"/>
          </a:xfrm>
          <a:prstGeom prst="rect">
            <a:avLst/>
          </a:prstGeom>
        </p:spPr>
      </p:pic>
      <p:sp>
        <p:nvSpPr>
          <p:cNvPr id="4" name="テキスト ボックス 3">
            <a:extLst>
              <a:ext uri="{FF2B5EF4-FFF2-40B4-BE49-F238E27FC236}">
                <a16:creationId xmlns:a16="http://schemas.microsoft.com/office/drawing/2014/main" id="{F68B3398-F603-202F-2162-64738BCD8231}"/>
              </a:ext>
            </a:extLst>
          </p:cNvPr>
          <p:cNvSpPr txBox="1"/>
          <p:nvPr/>
        </p:nvSpPr>
        <p:spPr>
          <a:xfrm>
            <a:off x="3049392" y="1653922"/>
            <a:ext cx="3418083" cy="1384995"/>
          </a:xfrm>
          <a:prstGeom prst="rect">
            <a:avLst/>
          </a:prstGeom>
          <a:noFill/>
        </p:spPr>
        <p:txBody>
          <a:bodyPr wrap="square" rtlCol="0">
            <a:spAutoFit/>
          </a:bodyPr>
          <a:lstStyle/>
          <a:p>
            <a:r>
              <a:rPr kumimoji="1" lang="ja-JP" altLang="en-US" sz="2400" dirty="0">
                <a:effectLst>
                  <a:glow rad="254000">
                    <a:schemeClr val="bg1">
                      <a:alpha val="90000"/>
                    </a:schemeClr>
                  </a:glow>
                </a:effectLst>
              </a:rPr>
              <a:t>①最初にここを押す</a:t>
            </a:r>
            <a:r>
              <a:rPr kumimoji="1" lang="en-US" altLang="ja-JP" sz="2400" dirty="0">
                <a:effectLst>
                  <a:glow rad="254000">
                    <a:schemeClr val="bg1">
                      <a:alpha val="90000"/>
                    </a:schemeClr>
                  </a:glow>
                </a:effectLst>
              </a:rPr>
              <a:t>.</a:t>
            </a:r>
          </a:p>
          <a:p>
            <a:r>
              <a:rPr lang="en-US" altLang="ja-JP" sz="2400" dirty="0">
                <a:effectLst>
                  <a:glow rad="254000">
                    <a:schemeClr val="bg1">
                      <a:alpha val="90000"/>
                    </a:schemeClr>
                  </a:glow>
                </a:effectLst>
              </a:rPr>
              <a:t>XY</a:t>
            </a:r>
            <a:r>
              <a:rPr lang="ja-JP" altLang="en-US" sz="2400" dirty="0">
                <a:effectLst>
                  <a:glow rad="254000">
                    <a:schemeClr val="bg1">
                      <a:alpha val="90000"/>
                    </a:schemeClr>
                  </a:glow>
                </a:effectLst>
              </a:rPr>
              <a:t>軸が原点に戻る</a:t>
            </a:r>
            <a:br>
              <a:rPr lang="en-US" altLang="ja-JP" sz="2400" dirty="0">
                <a:effectLst>
                  <a:glow rad="254000">
                    <a:schemeClr val="bg1">
                      <a:alpha val="90000"/>
                    </a:schemeClr>
                  </a:glow>
                </a:effectLst>
              </a:rPr>
            </a:br>
            <a:r>
              <a:rPr lang="en-US" altLang="ja-JP" dirty="0">
                <a:effectLst>
                  <a:glow rad="254000">
                    <a:schemeClr val="bg1">
                      <a:alpha val="90000"/>
                    </a:schemeClr>
                  </a:glow>
                </a:effectLst>
              </a:rPr>
              <a:t>(Press here </a:t>
            </a:r>
            <a:r>
              <a:rPr lang="en-US" altLang="ja-JP" dirty="0" err="1">
                <a:effectLst>
                  <a:glow rad="254000">
                    <a:schemeClr val="bg1">
                      <a:alpha val="90000"/>
                    </a:schemeClr>
                  </a:glow>
                </a:effectLst>
              </a:rPr>
              <a:t>first.The</a:t>
            </a:r>
            <a:r>
              <a:rPr lang="en-US" altLang="ja-JP" dirty="0">
                <a:effectLst>
                  <a:glow rad="254000">
                    <a:schemeClr val="bg1">
                      <a:alpha val="90000"/>
                    </a:schemeClr>
                  </a:glow>
                </a:effectLst>
              </a:rPr>
              <a:t> X and Y axes will return to their origins.)</a:t>
            </a:r>
            <a:endParaRPr kumimoji="1" lang="ja-JP" altLang="en-US" sz="2400" dirty="0">
              <a:effectLst>
                <a:glow rad="254000">
                  <a:schemeClr val="bg1">
                    <a:alpha val="90000"/>
                  </a:schemeClr>
                </a:glow>
              </a:effectLst>
            </a:endParaRPr>
          </a:p>
        </p:txBody>
      </p:sp>
      <p:cxnSp>
        <p:nvCxnSpPr>
          <p:cNvPr id="5" name="直線矢印コネクタ 4">
            <a:extLst>
              <a:ext uri="{FF2B5EF4-FFF2-40B4-BE49-F238E27FC236}">
                <a16:creationId xmlns:a16="http://schemas.microsoft.com/office/drawing/2014/main" id="{46ECB522-D7D4-C262-AD55-A8BA409D9248}"/>
              </a:ext>
            </a:extLst>
          </p:cNvPr>
          <p:cNvCxnSpPr>
            <a:cxnSpLocks/>
          </p:cNvCxnSpPr>
          <p:nvPr/>
        </p:nvCxnSpPr>
        <p:spPr>
          <a:xfrm flipV="1">
            <a:off x="4653657" y="1394218"/>
            <a:ext cx="1442342" cy="233091"/>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330DC5C-191E-A473-9EF9-803314ADDFE5}"/>
              </a:ext>
            </a:extLst>
          </p:cNvPr>
          <p:cNvSpPr txBox="1"/>
          <p:nvPr/>
        </p:nvSpPr>
        <p:spPr>
          <a:xfrm>
            <a:off x="3118429" y="3580486"/>
            <a:ext cx="9073571" cy="2400657"/>
          </a:xfrm>
          <a:prstGeom prst="rect">
            <a:avLst/>
          </a:prstGeom>
          <a:noFill/>
        </p:spPr>
        <p:txBody>
          <a:bodyPr wrap="square" rtlCol="0">
            <a:spAutoFit/>
          </a:bodyPr>
          <a:lstStyle/>
          <a:p>
            <a:r>
              <a:rPr kumimoji="1" lang="ja-JP" altLang="en-US" sz="2400" dirty="0">
                <a:effectLst>
                  <a:glow rad="254000">
                    <a:schemeClr val="bg1">
                      <a:alpha val="90000"/>
                    </a:schemeClr>
                  </a:glow>
                </a:effectLst>
              </a:rPr>
              <a:t>②溶着位置の変更</a:t>
            </a:r>
            <a:endParaRPr kumimoji="1" lang="en-US" altLang="ja-JP" sz="2400" dirty="0">
              <a:effectLst>
                <a:glow rad="254000">
                  <a:schemeClr val="bg1">
                    <a:alpha val="90000"/>
                  </a:schemeClr>
                </a:glow>
              </a:effectLst>
            </a:endParaRPr>
          </a:p>
          <a:p>
            <a:r>
              <a:rPr lang="ja-JP" altLang="en-US" sz="2400" dirty="0">
                <a:effectLst>
                  <a:glow rad="254000">
                    <a:schemeClr val="bg1">
                      <a:alpha val="90000"/>
                    </a:schemeClr>
                  </a:glow>
                </a:effectLst>
              </a:rPr>
              <a:t>ここを押すと</a:t>
            </a:r>
            <a:r>
              <a:rPr lang="en-US" altLang="ja-JP" sz="2400" dirty="0">
                <a:effectLst>
                  <a:glow rad="254000">
                    <a:schemeClr val="bg1">
                      <a:alpha val="90000"/>
                    </a:schemeClr>
                  </a:glow>
                </a:effectLst>
              </a:rPr>
              <a:t>XY</a:t>
            </a:r>
            <a:r>
              <a:rPr lang="ja-JP" altLang="en-US" sz="2400" dirty="0">
                <a:effectLst>
                  <a:glow rad="254000">
                    <a:schemeClr val="bg1">
                      <a:alpha val="90000"/>
                    </a:schemeClr>
                  </a:glow>
                </a:effectLst>
              </a:rPr>
              <a:t>軸が動く。ワンクリックの移動距離も指定可能</a:t>
            </a:r>
            <a:endParaRPr lang="en-US" altLang="ja-JP" sz="2400" dirty="0">
              <a:effectLst>
                <a:glow rad="254000">
                  <a:schemeClr val="bg1">
                    <a:alpha val="90000"/>
                  </a:schemeClr>
                </a:glow>
              </a:effectLst>
            </a:endParaRPr>
          </a:p>
          <a:p>
            <a:r>
              <a:rPr kumimoji="1" lang="ja-JP" altLang="en-US" sz="2400" dirty="0">
                <a:effectLst>
                  <a:glow rad="254000">
                    <a:schemeClr val="bg1">
                      <a:alpha val="90000"/>
                    </a:schemeClr>
                  </a:glow>
                </a:effectLst>
              </a:rPr>
              <a:t>その状態で位置シフトというものを押せばその位置が原点になり，溶着位置を変更できる</a:t>
            </a:r>
            <a:br>
              <a:rPr kumimoji="1" lang="en-US" altLang="ja-JP" sz="2400" dirty="0">
                <a:effectLst>
                  <a:glow rad="254000">
                    <a:schemeClr val="bg1">
                      <a:alpha val="90000"/>
                    </a:schemeClr>
                  </a:glow>
                </a:effectLst>
              </a:rPr>
            </a:br>
            <a:r>
              <a:rPr kumimoji="1" lang="en-US" altLang="ja-JP" dirty="0">
                <a:effectLst>
                  <a:glow rad="254000">
                    <a:schemeClr val="bg1">
                      <a:alpha val="90000"/>
                    </a:schemeClr>
                  </a:glow>
                </a:effectLst>
              </a:rPr>
              <a:t>(Changing the Welding </a:t>
            </a:r>
            <a:r>
              <a:rPr kumimoji="1" lang="en-US" altLang="ja-JP" dirty="0" err="1">
                <a:effectLst>
                  <a:glow rad="254000">
                    <a:schemeClr val="bg1">
                      <a:alpha val="90000"/>
                    </a:schemeClr>
                  </a:glow>
                </a:effectLst>
              </a:rPr>
              <a:t>PositionPressing</a:t>
            </a:r>
            <a:r>
              <a:rPr kumimoji="1" lang="en-US" altLang="ja-JP" dirty="0">
                <a:effectLst>
                  <a:glow rad="254000">
                    <a:schemeClr val="bg1">
                      <a:alpha val="90000"/>
                    </a:schemeClr>
                  </a:glow>
                </a:effectLst>
              </a:rPr>
              <a:t> here moves the X and Y axes. You can also specify the travel distance per </a:t>
            </a:r>
            <a:r>
              <a:rPr kumimoji="1" lang="en-US" altLang="ja-JP" dirty="0" err="1">
                <a:effectLst>
                  <a:glow rad="254000">
                    <a:schemeClr val="bg1">
                      <a:alpha val="90000"/>
                    </a:schemeClr>
                  </a:glow>
                </a:effectLst>
              </a:rPr>
              <a:t>click.By</a:t>
            </a:r>
            <a:r>
              <a:rPr kumimoji="1" lang="en-US" altLang="ja-JP" dirty="0">
                <a:effectLst>
                  <a:glow rad="254000">
                    <a:schemeClr val="bg1">
                      <a:alpha val="90000"/>
                    </a:schemeClr>
                  </a:glow>
                </a:effectLst>
              </a:rPr>
              <a:t> pressing "Position Shift" in that state, that current position becomes the new origin, allowing you to change the welding position.)</a:t>
            </a:r>
            <a:endParaRPr kumimoji="1" lang="ja-JP" altLang="en-US" sz="2400" dirty="0">
              <a:effectLst>
                <a:glow rad="254000">
                  <a:schemeClr val="bg1">
                    <a:alpha val="90000"/>
                  </a:schemeClr>
                </a:glow>
              </a:effectLst>
            </a:endParaRPr>
          </a:p>
        </p:txBody>
      </p:sp>
      <p:cxnSp>
        <p:nvCxnSpPr>
          <p:cNvPr id="9" name="直線矢印コネクタ 8">
            <a:extLst>
              <a:ext uri="{FF2B5EF4-FFF2-40B4-BE49-F238E27FC236}">
                <a16:creationId xmlns:a16="http://schemas.microsoft.com/office/drawing/2014/main" id="{D9C9C677-125A-3740-0A90-75E379A3494F}"/>
              </a:ext>
            </a:extLst>
          </p:cNvPr>
          <p:cNvCxnSpPr>
            <a:cxnSpLocks/>
          </p:cNvCxnSpPr>
          <p:nvPr/>
        </p:nvCxnSpPr>
        <p:spPr>
          <a:xfrm flipH="1" flipV="1">
            <a:off x="6362700" y="2299713"/>
            <a:ext cx="619124" cy="1510287"/>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4AC056D-4688-C397-7378-4F6A2BAE42B2}"/>
              </a:ext>
            </a:extLst>
          </p:cNvPr>
          <p:cNvCxnSpPr>
            <a:cxnSpLocks/>
          </p:cNvCxnSpPr>
          <p:nvPr/>
        </p:nvCxnSpPr>
        <p:spPr>
          <a:xfrm flipV="1">
            <a:off x="7289800" y="2184307"/>
            <a:ext cx="225425" cy="1625693"/>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5FFB9D5E-8D8E-2834-EA40-F71FFCED98A0}"/>
              </a:ext>
            </a:extLst>
          </p:cNvPr>
          <p:cNvSpPr txBox="1"/>
          <p:nvPr/>
        </p:nvSpPr>
        <p:spPr>
          <a:xfrm>
            <a:off x="8469242" y="2425229"/>
            <a:ext cx="3791524" cy="1384995"/>
          </a:xfrm>
          <a:prstGeom prst="rect">
            <a:avLst/>
          </a:prstGeom>
          <a:noFill/>
        </p:spPr>
        <p:txBody>
          <a:bodyPr wrap="square" rtlCol="0">
            <a:spAutoFit/>
          </a:bodyPr>
          <a:lstStyle/>
          <a:p>
            <a:r>
              <a:rPr kumimoji="1" lang="en-US" altLang="ja-JP" sz="2400" dirty="0">
                <a:effectLst>
                  <a:glow rad="254000">
                    <a:schemeClr val="bg1">
                      <a:alpha val="90000"/>
                    </a:schemeClr>
                  </a:glow>
                </a:effectLst>
              </a:rPr>
              <a:t>XY</a:t>
            </a:r>
            <a:r>
              <a:rPr kumimoji="1" lang="ja-JP" altLang="en-US" sz="2400" dirty="0">
                <a:effectLst>
                  <a:glow rad="254000">
                    <a:schemeClr val="bg1">
                      <a:alpha val="90000"/>
                    </a:schemeClr>
                  </a:glow>
                </a:effectLst>
              </a:rPr>
              <a:t>画面に表示されている溶着点を回転できる</a:t>
            </a:r>
            <a:br>
              <a:rPr kumimoji="1" lang="en-US" altLang="ja-JP" sz="2400" dirty="0">
                <a:effectLst>
                  <a:glow rad="254000">
                    <a:schemeClr val="bg1">
                      <a:alpha val="90000"/>
                    </a:schemeClr>
                  </a:glow>
                </a:effectLst>
              </a:rPr>
            </a:br>
            <a:r>
              <a:rPr kumimoji="1" lang="en-US" altLang="ja-JP" dirty="0">
                <a:effectLst>
                  <a:glow rad="254000">
                    <a:schemeClr val="bg1">
                      <a:alpha val="90000"/>
                    </a:schemeClr>
                  </a:glow>
                </a:effectLst>
              </a:rPr>
              <a:t>(Allows you to rotate the welding points displayed on the screen.)</a:t>
            </a:r>
            <a:endParaRPr kumimoji="1" lang="ja-JP" altLang="en-US" sz="2400" dirty="0">
              <a:effectLst>
                <a:glow rad="254000">
                  <a:schemeClr val="bg1">
                    <a:alpha val="90000"/>
                  </a:schemeClr>
                </a:glow>
              </a:effectLst>
            </a:endParaRPr>
          </a:p>
        </p:txBody>
      </p:sp>
      <p:cxnSp>
        <p:nvCxnSpPr>
          <p:cNvPr id="23" name="直線矢印コネクタ 22">
            <a:extLst>
              <a:ext uri="{FF2B5EF4-FFF2-40B4-BE49-F238E27FC236}">
                <a16:creationId xmlns:a16="http://schemas.microsoft.com/office/drawing/2014/main" id="{DCC46118-F5F0-3458-0F71-387A6761805C}"/>
              </a:ext>
            </a:extLst>
          </p:cNvPr>
          <p:cNvCxnSpPr>
            <a:cxnSpLocks/>
          </p:cNvCxnSpPr>
          <p:nvPr/>
        </p:nvCxnSpPr>
        <p:spPr>
          <a:xfrm flipH="1" flipV="1">
            <a:off x="9210098" y="2184307"/>
            <a:ext cx="155575" cy="240922"/>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132FB560-958A-C137-175E-09D813383272}"/>
              </a:ext>
            </a:extLst>
          </p:cNvPr>
          <p:cNvCxnSpPr>
            <a:cxnSpLocks/>
          </p:cNvCxnSpPr>
          <p:nvPr/>
        </p:nvCxnSpPr>
        <p:spPr>
          <a:xfrm flipV="1">
            <a:off x="1394691" y="1836329"/>
            <a:ext cx="780471" cy="347978"/>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3CC051F-9916-7534-3BCA-C41F5AF04A10}"/>
              </a:ext>
            </a:extLst>
          </p:cNvPr>
          <p:cNvSpPr txBox="1"/>
          <p:nvPr/>
        </p:nvSpPr>
        <p:spPr>
          <a:xfrm>
            <a:off x="23390" y="2184307"/>
            <a:ext cx="3418083" cy="707886"/>
          </a:xfrm>
          <a:prstGeom prst="rect">
            <a:avLst/>
          </a:prstGeom>
          <a:noFill/>
        </p:spPr>
        <p:txBody>
          <a:bodyPr wrap="square" rtlCol="0">
            <a:spAutoFit/>
          </a:bodyPr>
          <a:lstStyle/>
          <a:p>
            <a:r>
              <a:rPr kumimoji="1" lang="ja-JP" altLang="en-US" sz="2400" dirty="0">
                <a:effectLst>
                  <a:glow rad="254000">
                    <a:schemeClr val="bg1">
                      <a:alpha val="90000"/>
                    </a:schemeClr>
                  </a:glow>
                </a:effectLst>
              </a:rPr>
              <a:t>溶着点の総数</a:t>
            </a:r>
            <a:br>
              <a:rPr kumimoji="1" lang="en-US" altLang="ja-JP" sz="2400" dirty="0">
                <a:effectLst>
                  <a:glow rad="254000">
                    <a:schemeClr val="bg1">
                      <a:alpha val="90000"/>
                    </a:schemeClr>
                  </a:glow>
                </a:effectLst>
              </a:rPr>
            </a:br>
            <a:r>
              <a:rPr kumimoji="1" lang="en-US" altLang="ja-JP" sz="1600" dirty="0">
                <a:effectLst>
                  <a:glow rad="254000">
                    <a:schemeClr val="bg1">
                      <a:alpha val="90000"/>
                    </a:schemeClr>
                  </a:glow>
                </a:effectLst>
              </a:rPr>
              <a:t>(Total Number of Welding Points)</a:t>
            </a:r>
            <a:endParaRPr kumimoji="1" lang="ja-JP" altLang="en-US" sz="2400" dirty="0">
              <a:effectLst>
                <a:glow rad="254000">
                  <a:schemeClr val="bg1">
                    <a:alpha val="90000"/>
                  </a:schemeClr>
                </a:glow>
              </a:effectLst>
            </a:endParaRPr>
          </a:p>
        </p:txBody>
      </p:sp>
    </p:spTree>
    <p:extLst>
      <p:ext uri="{BB962C8B-B14F-4D97-AF65-F5344CB8AC3E}">
        <p14:creationId xmlns:p14="http://schemas.microsoft.com/office/powerpoint/2010/main" val="3949116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D46F-7762-F779-F361-620BDE40036F}"/>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BEAD3B0-159C-3AF3-6F4E-AF83A31EC7DC}"/>
              </a:ext>
            </a:extLst>
          </p:cNvPr>
          <p:cNvSpPr>
            <a:spLocks noGrp="1"/>
          </p:cNvSpPr>
          <p:nvPr>
            <p:ph sz="quarter" idx="12"/>
          </p:nvPr>
        </p:nvSpPr>
        <p:spPr/>
        <p:txBody>
          <a:bodyPr/>
          <a:lstStyle/>
          <a:p>
            <a:pPr indent="0">
              <a:buNone/>
            </a:pPr>
            <a:r>
              <a:rPr kumimoji="1" lang="ja-JP" altLang="en-US" dirty="0"/>
              <a:t>６　溶着実行 </a:t>
            </a:r>
            <a:r>
              <a:rPr kumimoji="1" lang="en-US" altLang="ja-JP" dirty="0"/>
              <a:t>(</a:t>
            </a:r>
            <a:r>
              <a:rPr lang="ja-JP" altLang="ja-JP" dirty="0"/>
              <a:t>Execute Welding</a:t>
            </a:r>
            <a:r>
              <a:rPr kumimoji="1" lang="en-US" altLang="ja-JP" dirty="0"/>
              <a:t>)</a:t>
            </a:r>
            <a:endParaRPr kumimoji="1" lang="ja-JP" altLang="en-US" dirty="0"/>
          </a:p>
        </p:txBody>
      </p:sp>
      <p:pic>
        <p:nvPicPr>
          <p:cNvPr id="14" name="図 13">
            <a:extLst>
              <a:ext uri="{FF2B5EF4-FFF2-40B4-BE49-F238E27FC236}">
                <a16:creationId xmlns:a16="http://schemas.microsoft.com/office/drawing/2014/main" id="{E0CB8555-5788-7EA9-EDD1-60A5C2FED295}"/>
              </a:ext>
            </a:extLst>
          </p:cNvPr>
          <p:cNvPicPr>
            <a:picLocks noChangeAspect="1"/>
          </p:cNvPicPr>
          <p:nvPr/>
        </p:nvPicPr>
        <p:blipFill>
          <a:blip r:embed="rId2"/>
          <a:stretch>
            <a:fillRect/>
          </a:stretch>
        </p:blipFill>
        <p:spPr>
          <a:xfrm>
            <a:off x="2070171" y="952106"/>
            <a:ext cx="8051657" cy="5905894"/>
          </a:xfrm>
          <a:prstGeom prst="rect">
            <a:avLst/>
          </a:prstGeom>
        </p:spPr>
      </p:pic>
      <p:sp>
        <p:nvSpPr>
          <p:cNvPr id="16" name="テキスト ボックス 15">
            <a:extLst>
              <a:ext uri="{FF2B5EF4-FFF2-40B4-BE49-F238E27FC236}">
                <a16:creationId xmlns:a16="http://schemas.microsoft.com/office/drawing/2014/main" id="{DFF53DF5-F0C4-EF9D-7CD2-63FC07AA89F6}"/>
              </a:ext>
            </a:extLst>
          </p:cNvPr>
          <p:cNvSpPr txBox="1"/>
          <p:nvPr/>
        </p:nvSpPr>
        <p:spPr>
          <a:xfrm>
            <a:off x="3543300" y="1629665"/>
            <a:ext cx="8260773" cy="2031325"/>
          </a:xfrm>
          <a:prstGeom prst="rect">
            <a:avLst/>
          </a:prstGeom>
          <a:noFill/>
        </p:spPr>
        <p:txBody>
          <a:bodyPr wrap="square" rtlCol="0">
            <a:spAutoFit/>
          </a:bodyPr>
          <a:lstStyle/>
          <a:p>
            <a:r>
              <a:rPr lang="ja-JP" altLang="en-US" sz="2400" dirty="0">
                <a:effectLst>
                  <a:glow rad="254000">
                    <a:schemeClr val="bg1">
                      <a:alpha val="90000"/>
                    </a:schemeClr>
                  </a:glow>
                </a:effectLst>
              </a:rPr>
              <a:t>④</a:t>
            </a:r>
            <a:r>
              <a:rPr kumimoji="1" lang="ja-JP" altLang="en-US" sz="2400" dirty="0">
                <a:effectLst>
                  <a:glow rad="254000">
                    <a:schemeClr val="bg1">
                      <a:alpha val="90000"/>
                    </a:schemeClr>
                  </a:glow>
                </a:effectLst>
              </a:rPr>
              <a:t>プレビューを押すと右上右下左上左下の４点で溶着範囲を確認できる．隣の詳細プレビューはすべての溶着点に</a:t>
            </a:r>
            <a:r>
              <a:rPr kumimoji="1" lang="ja-JP" altLang="en-US" sz="2400" dirty="0">
                <a:effectLst>
                  <a:glow rad="127000">
                    <a:schemeClr val="bg1"/>
                  </a:glow>
                </a:effectLst>
              </a:rPr>
              <a:t>沿って溶着機が動くが時間がかかる</a:t>
            </a:r>
            <a:br>
              <a:rPr kumimoji="1" lang="en-US" altLang="ja-JP" sz="2400" dirty="0">
                <a:effectLst>
                  <a:glow rad="127000">
                    <a:schemeClr val="bg1"/>
                  </a:glow>
                </a:effectLst>
              </a:rPr>
            </a:br>
            <a:r>
              <a:rPr kumimoji="1" lang="en-US" altLang="ja-JP" dirty="0">
                <a:effectLst>
                  <a:glow rad="127000">
                    <a:schemeClr val="bg1"/>
                  </a:glow>
                </a:effectLst>
              </a:rPr>
              <a:t>(</a:t>
            </a:r>
            <a:r>
              <a:rPr lang="ja-JP" altLang="ja-JP" dirty="0">
                <a:effectLst>
                  <a:glow rad="127000">
                    <a:schemeClr val="bg1"/>
                  </a:glow>
                </a:effectLst>
              </a:rPr>
              <a:t>Pressing “</a:t>
            </a:r>
            <a:r>
              <a:rPr lang="ja-JP" altLang="en-US" dirty="0">
                <a:effectLst>
                  <a:glow rad="127000">
                    <a:schemeClr val="bg1"/>
                  </a:glow>
                </a:effectLst>
              </a:rPr>
              <a:t>範囲レビュー</a:t>
            </a:r>
            <a:r>
              <a:rPr lang="ja-JP" altLang="ja-JP" dirty="0">
                <a:effectLst>
                  <a:glow rad="127000">
                    <a:schemeClr val="bg1"/>
                  </a:glow>
                </a:effectLst>
              </a:rPr>
              <a:t>” allows you to check the welding area using four points: top-right, bottom-right, top-left, and bottom-left. The adjacent “</a:t>
            </a:r>
            <a:r>
              <a:rPr lang="ja-JP" altLang="en-US" dirty="0">
                <a:effectLst>
                  <a:glow rad="127000">
                    <a:schemeClr val="bg1"/>
                  </a:glow>
                </a:effectLst>
              </a:rPr>
              <a:t>詳細プレビュー</a:t>
            </a:r>
            <a:r>
              <a:rPr lang="ja-JP" altLang="ja-JP" dirty="0">
                <a:effectLst>
                  <a:glow rad="127000">
                    <a:schemeClr val="bg1"/>
                  </a:glow>
                </a:effectLst>
              </a:rPr>
              <a:t>" moves the welder along all welding points, but it takes more time.</a:t>
            </a:r>
            <a:r>
              <a:rPr kumimoji="1" lang="en-US" altLang="ja-JP" dirty="0">
                <a:effectLst>
                  <a:glow rad="127000">
                    <a:schemeClr val="bg1"/>
                  </a:glow>
                </a:effectLst>
              </a:rPr>
              <a:t>)</a:t>
            </a:r>
            <a:endParaRPr kumimoji="1" lang="ja-JP" altLang="en-US" sz="2400" dirty="0">
              <a:effectLst>
                <a:glow rad="127000">
                  <a:schemeClr val="bg1"/>
                </a:glow>
              </a:effectLst>
            </a:endParaRPr>
          </a:p>
        </p:txBody>
      </p:sp>
      <p:cxnSp>
        <p:nvCxnSpPr>
          <p:cNvPr id="17" name="直線矢印コネクタ 16">
            <a:extLst>
              <a:ext uri="{FF2B5EF4-FFF2-40B4-BE49-F238E27FC236}">
                <a16:creationId xmlns:a16="http://schemas.microsoft.com/office/drawing/2014/main" id="{781ABC65-48CB-E17B-73EC-4E3D325CA90D}"/>
              </a:ext>
            </a:extLst>
          </p:cNvPr>
          <p:cNvCxnSpPr>
            <a:cxnSpLocks/>
          </p:cNvCxnSpPr>
          <p:nvPr/>
        </p:nvCxnSpPr>
        <p:spPr>
          <a:xfrm flipH="1">
            <a:off x="8296275" y="3660990"/>
            <a:ext cx="317860" cy="2657167"/>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11B08F3F-787A-AA19-D642-A45B6DB54B79}"/>
              </a:ext>
            </a:extLst>
          </p:cNvPr>
          <p:cNvCxnSpPr>
            <a:cxnSpLocks/>
          </p:cNvCxnSpPr>
          <p:nvPr/>
        </p:nvCxnSpPr>
        <p:spPr>
          <a:xfrm>
            <a:off x="6270517" y="5384800"/>
            <a:ext cx="1319177" cy="521094"/>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9BBA7DA4-1DF0-9C23-D6B9-9315FAB12122}"/>
              </a:ext>
            </a:extLst>
          </p:cNvPr>
          <p:cNvSpPr txBox="1"/>
          <p:nvPr/>
        </p:nvSpPr>
        <p:spPr>
          <a:xfrm>
            <a:off x="1306945" y="3925957"/>
            <a:ext cx="6543964" cy="2954655"/>
          </a:xfrm>
          <a:prstGeom prst="rect">
            <a:avLst/>
          </a:prstGeom>
          <a:noFill/>
        </p:spPr>
        <p:txBody>
          <a:bodyPr wrap="square" rtlCol="0">
            <a:spAutoFit/>
          </a:bodyPr>
          <a:lstStyle/>
          <a:p>
            <a:r>
              <a:rPr kumimoji="1" lang="ja-JP" altLang="en-US" sz="2400" dirty="0">
                <a:effectLst>
                  <a:glow rad="254000">
                    <a:schemeClr val="bg1">
                      <a:alpha val="90000"/>
                    </a:schemeClr>
                  </a:glow>
                </a:effectLst>
              </a:rPr>
              <a:t>溶着機は長時間使用していると発熱する．</a:t>
            </a:r>
            <a:r>
              <a:rPr lang="ja-JP" altLang="en-US" sz="2400" dirty="0">
                <a:effectLst>
                  <a:glow rad="254000">
                    <a:schemeClr val="bg1">
                      <a:alpha val="90000"/>
                    </a:schemeClr>
                  </a:glow>
                </a:effectLst>
              </a:rPr>
              <a:t>ここに数字を入れると，溶着数がその数になると一時停止する．復帰は下の「再開」から</a:t>
            </a:r>
            <a:endParaRPr lang="en-US" altLang="ja-JP" sz="2400" dirty="0">
              <a:effectLst>
                <a:glow rad="254000">
                  <a:schemeClr val="bg1">
                    <a:alpha val="90000"/>
                  </a:schemeClr>
                </a:glow>
              </a:effectLst>
            </a:endParaRPr>
          </a:p>
          <a:p>
            <a:r>
              <a:rPr kumimoji="1" lang="en-US" altLang="ja-JP" sz="2400" dirty="0">
                <a:effectLst>
                  <a:glow rad="254000">
                    <a:schemeClr val="bg1">
                      <a:alpha val="90000"/>
                    </a:schemeClr>
                  </a:glow>
                </a:effectLst>
              </a:rPr>
              <a:t>300</a:t>
            </a:r>
            <a:r>
              <a:rPr kumimoji="1" lang="ja-JP" altLang="en-US" sz="2400" dirty="0">
                <a:effectLst>
                  <a:glow rad="254000">
                    <a:schemeClr val="bg1">
                      <a:alpha val="90000"/>
                    </a:schemeClr>
                  </a:glow>
                </a:effectLst>
              </a:rPr>
              <a:t>点に</a:t>
            </a:r>
            <a:r>
              <a:rPr kumimoji="1" lang="en-US" altLang="ja-JP" sz="2400" dirty="0">
                <a:effectLst>
                  <a:glow rad="254000">
                    <a:schemeClr val="bg1">
                      <a:alpha val="90000"/>
                    </a:schemeClr>
                  </a:glow>
                </a:effectLst>
              </a:rPr>
              <a:t>1</a:t>
            </a:r>
            <a:r>
              <a:rPr kumimoji="1" lang="ja-JP" altLang="en-US" sz="2400" dirty="0">
                <a:effectLst>
                  <a:glow rad="254000">
                    <a:schemeClr val="bg1">
                      <a:alpha val="90000"/>
                    </a:schemeClr>
                  </a:glow>
                </a:effectLst>
              </a:rPr>
              <a:t>回は必要かも</a:t>
            </a:r>
            <a:br>
              <a:rPr kumimoji="1" lang="en-US" altLang="ja-JP" sz="2400" dirty="0">
                <a:effectLst>
                  <a:glow rad="254000">
                    <a:schemeClr val="bg1">
                      <a:alpha val="90000"/>
                    </a:schemeClr>
                  </a:glow>
                </a:effectLst>
              </a:rPr>
            </a:br>
            <a:r>
              <a:rPr kumimoji="1" lang="en-US" altLang="ja-JP" dirty="0">
                <a:effectLst>
                  <a:glow rad="254000">
                    <a:schemeClr val="bg1">
                      <a:alpha val="90000"/>
                    </a:schemeClr>
                  </a:glow>
                </a:effectLst>
              </a:rPr>
              <a:t>(The welder generates heat during prolonged use. Entering a number here will pause the operation once the number of welds reaches that count. You can resume by clicking the "Resume" button below.(Recommendation: A pause may be necessary once every 300 points.))</a:t>
            </a:r>
            <a:endParaRPr kumimoji="1" lang="ja-JP" altLang="en-US" dirty="0">
              <a:effectLst>
                <a:glow rad="254000">
                  <a:schemeClr val="bg1">
                    <a:alpha val="90000"/>
                  </a:schemeClr>
                </a:glow>
              </a:effectLst>
            </a:endParaRPr>
          </a:p>
        </p:txBody>
      </p:sp>
      <p:sp>
        <p:nvSpPr>
          <p:cNvPr id="13" name="テキスト ボックス 12">
            <a:extLst>
              <a:ext uri="{FF2B5EF4-FFF2-40B4-BE49-F238E27FC236}">
                <a16:creationId xmlns:a16="http://schemas.microsoft.com/office/drawing/2014/main" id="{821942C4-2256-712E-0384-C8A39FE26457}"/>
              </a:ext>
            </a:extLst>
          </p:cNvPr>
          <p:cNvSpPr txBox="1"/>
          <p:nvPr/>
        </p:nvSpPr>
        <p:spPr>
          <a:xfrm>
            <a:off x="8447286" y="4884071"/>
            <a:ext cx="4875536" cy="738664"/>
          </a:xfrm>
          <a:prstGeom prst="rect">
            <a:avLst/>
          </a:prstGeom>
          <a:noFill/>
        </p:spPr>
        <p:txBody>
          <a:bodyPr wrap="square" rtlCol="0">
            <a:spAutoFit/>
          </a:bodyPr>
          <a:lstStyle/>
          <a:p>
            <a:r>
              <a:rPr kumimoji="1" lang="ja-JP" altLang="en-US" sz="2400" dirty="0">
                <a:effectLst>
                  <a:glow rad="254000">
                    <a:schemeClr val="bg1">
                      <a:alpha val="90000"/>
                    </a:schemeClr>
                  </a:glow>
                </a:effectLst>
              </a:rPr>
              <a:t>⑤最後にここを押して開始</a:t>
            </a:r>
            <a:br>
              <a:rPr kumimoji="1" lang="en-US" altLang="ja-JP" sz="2400" dirty="0">
                <a:effectLst>
                  <a:glow rad="254000">
                    <a:schemeClr val="bg1">
                      <a:alpha val="90000"/>
                    </a:schemeClr>
                  </a:glow>
                </a:effectLst>
              </a:rPr>
            </a:br>
            <a:r>
              <a:rPr kumimoji="1" lang="en-US" altLang="ja-JP" dirty="0">
                <a:effectLst>
                  <a:glow rad="254000">
                    <a:schemeClr val="bg1">
                      <a:alpha val="90000"/>
                    </a:schemeClr>
                  </a:glow>
                </a:effectLst>
              </a:rPr>
              <a:t>(Finally, press here to start welding.)</a:t>
            </a:r>
            <a:endParaRPr kumimoji="1" lang="ja-JP" altLang="en-US" sz="2400" dirty="0">
              <a:effectLst>
                <a:glow rad="254000">
                  <a:schemeClr val="bg1">
                    <a:alpha val="90000"/>
                  </a:schemeClr>
                </a:glow>
              </a:effectLst>
            </a:endParaRPr>
          </a:p>
        </p:txBody>
      </p:sp>
      <p:cxnSp>
        <p:nvCxnSpPr>
          <p:cNvPr id="15" name="直線矢印コネクタ 14">
            <a:extLst>
              <a:ext uri="{FF2B5EF4-FFF2-40B4-BE49-F238E27FC236}">
                <a16:creationId xmlns:a16="http://schemas.microsoft.com/office/drawing/2014/main" id="{829CACD0-6542-D123-061F-6DB26EF6C70C}"/>
              </a:ext>
            </a:extLst>
          </p:cNvPr>
          <p:cNvCxnSpPr>
            <a:cxnSpLocks/>
          </p:cNvCxnSpPr>
          <p:nvPr/>
        </p:nvCxnSpPr>
        <p:spPr>
          <a:xfrm>
            <a:off x="9509232" y="5645347"/>
            <a:ext cx="0" cy="543017"/>
          </a:xfrm>
          <a:prstGeom prst="straightConnector1">
            <a:avLst/>
          </a:prstGeom>
          <a:ln w="28575">
            <a:solidFill>
              <a:srgbClr val="FF0000"/>
            </a:solidFill>
            <a:tailEnd type="triangle"/>
          </a:ln>
          <a:effectLst>
            <a:glow rad="76200">
              <a:schemeClr val="bg1">
                <a:alpha val="80000"/>
              </a:schemeClr>
            </a:glow>
          </a:effectLst>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2A557A7C-7295-CC18-4FD1-55843D835E61}"/>
              </a:ext>
            </a:extLst>
          </p:cNvPr>
          <p:cNvSpPr txBox="1"/>
          <p:nvPr/>
        </p:nvSpPr>
        <p:spPr>
          <a:xfrm>
            <a:off x="35502" y="900243"/>
            <a:ext cx="11690924" cy="1015663"/>
          </a:xfrm>
          <a:prstGeom prst="rect">
            <a:avLst/>
          </a:prstGeom>
          <a:noFill/>
        </p:spPr>
        <p:txBody>
          <a:bodyPr wrap="square" rtlCol="0">
            <a:spAutoFit/>
          </a:bodyPr>
          <a:lstStyle/>
          <a:p>
            <a:r>
              <a:rPr kumimoji="1" lang="ja-JP" altLang="en-US" sz="2400" dirty="0">
                <a:effectLst>
                  <a:glow rad="254000">
                    <a:schemeClr val="bg1">
                      <a:alpha val="90000"/>
                    </a:schemeClr>
                  </a:glow>
                </a:effectLst>
              </a:rPr>
              <a:t>③溶着したい素材をセットし、磁石で端を止める。溶着機と干渉しないように注</a:t>
            </a:r>
            <a:br>
              <a:rPr kumimoji="1" lang="en-US" altLang="ja-JP" sz="2400" dirty="0">
                <a:effectLst>
                  <a:glow rad="254000">
                    <a:schemeClr val="bg1">
                      <a:alpha val="90000"/>
                    </a:schemeClr>
                  </a:glow>
                </a:effectLst>
              </a:rPr>
            </a:br>
            <a:r>
              <a:rPr kumimoji="1" lang="en-US" altLang="ja-JP" dirty="0">
                <a:effectLst>
                  <a:glow rad="127000">
                    <a:schemeClr val="bg1"/>
                  </a:glow>
                </a:effectLst>
              </a:rPr>
              <a:t>(</a:t>
            </a:r>
            <a:r>
              <a:rPr lang="en-US" altLang="ja-JP" dirty="0">
                <a:effectLst>
                  <a:glow rad="127000">
                    <a:schemeClr val="bg1"/>
                  </a:glow>
                </a:effectLst>
              </a:rPr>
              <a:t>Set the material to be welded and secure the edges with magnets. Be careful not to place the magnets inside the welding area.</a:t>
            </a:r>
            <a:r>
              <a:rPr kumimoji="1" lang="en-US" altLang="ja-JP" dirty="0">
                <a:effectLst>
                  <a:glow rad="127000">
                    <a:schemeClr val="bg1"/>
                  </a:glow>
                </a:effectLst>
              </a:rPr>
              <a:t>)</a:t>
            </a:r>
            <a:endParaRPr kumimoji="1" lang="ja-JP" altLang="en-US" sz="2400" dirty="0">
              <a:effectLst>
                <a:glow rad="127000">
                  <a:schemeClr val="bg1"/>
                </a:glow>
              </a:effectLst>
            </a:endParaRPr>
          </a:p>
        </p:txBody>
      </p:sp>
    </p:spTree>
    <p:extLst>
      <p:ext uri="{BB962C8B-B14F-4D97-AF65-F5344CB8AC3E}">
        <p14:creationId xmlns:p14="http://schemas.microsoft.com/office/powerpoint/2010/main" val="1824277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CA52A516-D049-8CB9-8483-8FB53C4A0D3F}"/>
              </a:ext>
            </a:extLst>
          </p:cNvPr>
          <p:cNvSpPr>
            <a:spLocks noGrp="1"/>
          </p:cNvSpPr>
          <p:nvPr>
            <p:ph sz="quarter" idx="12"/>
          </p:nvPr>
        </p:nvSpPr>
        <p:spPr/>
        <p:txBody>
          <a:bodyPr/>
          <a:lstStyle/>
          <a:p>
            <a:pPr indent="0">
              <a:buNone/>
            </a:pPr>
            <a:r>
              <a:rPr kumimoji="1" lang="en-US" altLang="ja-JP" dirty="0"/>
              <a:t>Q</a:t>
            </a:r>
            <a:r>
              <a:rPr kumimoji="1" lang="ja-JP" altLang="en-US" dirty="0"/>
              <a:t>＆</a:t>
            </a:r>
            <a:r>
              <a:rPr kumimoji="1" lang="en-US" altLang="ja-JP" dirty="0"/>
              <a:t>A</a:t>
            </a:r>
            <a:endParaRPr kumimoji="1" lang="ja-JP" altLang="en-US" dirty="0"/>
          </a:p>
        </p:txBody>
      </p:sp>
      <p:sp>
        <p:nvSpPr>
          <p:cNvPr id="4" name="コンテンツ プレースホルダー 3">
            <a:extLst>
              <a:ext uri="{FF2B5EF4-FFF2-40B4-BE49-F238E27FC236}">
                <a16:creationId xmlns:a16="http://schemas.microsoft.com/office/drawing/2014/main" id="{9744C54B-347B-7F0C-69A5-F37DA7643AA7}"/>
              </a:ext>
            </a:extLst>
          </p:cNvPr>
          <p:cNvSpPr>
            <a:spLocks noGrp="1"/>
          </p:cNvSpPr>
          <p:nvPr>
            <p:ph sz="quarter" idx="14"/>
          </p:nvPr>
        </p:nvSpPr>
        <p:spPr>
          <a:xfrm>
            <a:off x="546100" y="974785"/>
            <a:ext cx="11099800" cy="4854515"/>
          </a:xfrm>
        </p:spPr>
        <p:txBody>
          <a:bodyPr>
            <a:noAutofit/>
          </a:bodyPr>
          <a:lstStyle/>
          <a:p>
            <a:pPr marL="0" indent="0">
              <a:buNone/>
            </a:pPr>
            <a:r>
              <a:rPr kumimoji="1" lang="ja-JP" altLang="en-US" sz="2400" dirty="0"/>
              <a:t>・モーターが動かない，反応しない </a:t>
            </a:r>
            <a:r>
              <a:rPr kumimoji="1" lang="en-US" altLang="ja-JP" sz="2000" dirty="0"/>
              <a:t>(</a:t>
            </a:r>
            <a:r>
              <a:rPr lang="ja-JP" altLang="ja-JP" sz="2000" dirty="0"/>
              <a:t>The motor does not move or respond</a:t>
            </a:r>
            <a:r>
              <a:rPr kumimoji="1" lang="en-US" altLang="ja-JP" sz="2000" dirty="0"/>
              <a:t>)</a:t>
            </a:r>
          </a:p>
          <a:p>
            <a:pPr marL="0" indent="0">
              <a:buNone/>
            </a:pPr>
            <a:r>
              <a:rPr lang="ja-JP" altLang="en-US" sz="2400" dirty="0"/>
              <a:t>→電源がつながってない，</a:t>
            </a:r>
            <a:br>
              <a:rPr lang="en-US" altLang="ja-JP" sz="2400" dirty="0"/>
            </a:br>
            <a:r>
              <a:rPr lang="ja-JP" altLang="en-US" sz="2400" dirty="0"/>
              <a:t>非常停止ボタンが押されてる，</a:t>
            </a:r>
            <a:br>
              <a:rPr lang="en-US" altLang="ja-JP" sz="2400" dirty="0"/>
            </a:br>
            <a:r>
              <a:rPr lang="ja-JP" altLang="en-US" sz="2400" dirty="0"/>
              <a:t>モーターがオーバートルクとなっている．この場合は</a:t>
            </a:r>
            <a:r>
              <a:rPr lang="en-US" altLang="ja-JP" sz="2400" dirty="0"/>
              <a:t>R</a:t>
            </a:r>
            <a:r>
              <a:rPr lang="ja-JP" altLang="en-US" sz="2400" dirty="0"/>
              <a:t>＋</a:t>
            </a:r>
            <a:r>
              <a:rPr lang="en-US" altLang="ja-JP" sz="2400" dirty="0"/>
              <a:t>manager</a:t>
            </a:r>
            <a:r>
              <a:rPr lang="ja-JP" altLang="en-US" sz="2400" dirty="0"/>
              <a:t>でモーターを初期化 </a:t>
            </a:r>
            <a:br>
              <a:rPr lang="en-US" altLang="ja-JP" sz="2400" dirty="0"/>
            </a:br>
            <a:r>
              <a:rPr lang="en-US" altLang="ja-JP" sz="2000" dirty="0"/>
              <a:t>(</a:t>
            </a:r>
            <a:r>
              <a:rPr lang="ja-JP" altLang="ja-JP" sz="2000" dirty="0"/>
              <a:t>The power might not be connected, </a:t>
            </a:r>
            <a:br>
              <a:rPr lang="en-US" altLang="ja-JP" sz="2000" dirty="0"/>
            </a:br>
            <a:r>
              <a:rPr lang="ja-JP" altLang="ja-JP" sz="2000" dirty="0"/>
              <a:t>the emergency stop button may be pressed, </a:t>
            </a:r>
            <a:br>
              <a:rPr lang="en-US" altLang="ja-JP" sz="2000" dirty="0"/>
            </a:br>
            <a:r>
              <a:rPr lang="ja-JP" altLang="ja-JP" sz="2000" dirty="0"/>
              <a:t>or the motor may be in an over-torque condition. In this case, please initialize the motor using R+ Manager.</a:t>
            </a:r>
            <a:r>
              <a:rPr lang="en-US" altLang="ja-JP" sz="2000" dirty="0"/>
              <a:t>)</a:t>
            </a:r>
          </a:p>
          <a:p>
            <a:pPr marL="0" indent="0">
              <a:buNone/>
            </a:pPr>
            <a:endParaRPr kumimoji="1" lang="en-US" altLang="ja-JP" sz="2400" dirty="0"/>
          </a:p>
          <a:p>
            <a:pPr marL="0" indent="0">
              <a:buNone/>
            </a:pPr>
            <a:endParaRPr kumimoji="1" lang="en-US" altLang="ja-JP" sz="2400" dirty="0"/>
          </a:p>
          <a:p>
            <a:pPr marL="0" indent="0">
              <a:buNone/>
            </a:pPr>
            <a:r>
              <a:rPr lang="ja-JP" altLang="en-US" sz="2400" dirty="0"/>
              <a:t>・気になることがあれば，</a:t>
            </a:r>
            <a:r>
              <a:rPr lang="en-US" altLang="ja-JP" sz="2400" dirty="0" err="1"/>
              <a:t>github</a:t>
            </a:r>
            <a:r>
              <a:rPr lang="ja-JP" altLang="en-US" sz="2400" dirty="0"/>
              <a:t>のリンクを</a:t>
            </a:r>
            <a:r>
              <a:rPr lang="en-US" altLang="ja-JP" sz="2400" dirty="0" err="1"/>
              <a:t>gemini</a:t>
            </a:r>
            <a:r>
              <a:rPr lang="ja-JP" altLang="en-US" sz="2400" dirty="0"/>
              <a:t>の「コードをインポート」にいれれば色々教えてくれる</a:t>
            </a:r>
            <a:endParaRPr kumimoji="1" lang="ja-JP" altLang="en-US" sz="2400" dirty="0"/>
          </a:p>
        </p:txBody>
      </p:sp>
    </p:spTree>
    <p:extLst>
      <p:ext uri="{BB962C8B-B14F-4D97-AF65-F5344CB8AC3E}">
        <p14:creationId xmlns:p14="http://schemas.microsoft.com/office/powerpoint/2010/main" val="391948094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メイリオ">
      <a:majorFont>
        <a:latin typeface="Segoe UI"/>
        <a:ea typeface="メイリオ"/>
        <a:cs typeface=""/>
      </a:majorFont>
      <a:minorFont>
        <a:latin typeface="Segoe UI"/>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33ED81-A378-482E-B710-0D21A32023B2}">
  <ds:schemaRefs>
    <ds:schemaRef ds:uri="http://purl.org/dc/dcmitype/"/>
    <ds:schemaRef ds:uri="http://schemas.microsoft.com/office/2006/documentManagement/types"/>
    <ds:schemaRef ds:uri="http://www.w3.org/XML/1998/namespace"/>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0EFD21F3-24CC-4605-A5CE-D678D2531AFB}">
  <ds:schemaRefs>
    <ds:schemaRef ds:uri="http://schemas.microsoft.com/sharepoint/v3/contenttype/forms"/>
  </ds:schemaRefs>
</ds:datastoreItem>
</file>

<file path=customXml/itemProps3.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109222</TotalTime>
  <Words>1620</Words>
  <Application>Microsoft Office PowerPoint</Application>
  <PresentationFormat>ワイド画面</PresentationFormat>
  <Paragraphs>109</Paragraphs>
  <Slides>16</Slides>
  <Notes>5</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游ゴシック</vt:lpstr>
      <vt:lpstr>Arial</vt:lpstr>
      <vt:lpstr>Segoe UI</vt:lpstr>
      <vt:lpstr>Office テーマ</vt:lpstr>
      <vt:lpstr>自動ステージの使い方 (How to use an automatic stage)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1自由度で吸引と放出が可能な フレキシブルデバイスの開発</dc:title>
  <dc:creator>野尻 晴太</dc:creator>
  <cp:lastModifiedBy>稲葉 勇希</cp:lastModifiedBy>
  <cp:revision>1092</cp:revision>
  <dcterms:created xsi:type="dcterms:W3CDTF">2023-02-22T23:20:02Z</dcterms:created>
  <dcterms:modified xsi:type="dcterms:W3CDTF">2026-06-27T10:00:33Z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